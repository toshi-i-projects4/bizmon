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7477D7-07D5-4B33-BEE6-7398C680E1E8}" v="2" dt="2026-07-13T08:13:54.1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53" y="8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利宏 岩谷" userId="ffff8d2f28272e31" providerId="LiveId" clId="{EDCAB21D-A4B7-401A-BDDC-B06E57B230F1}"/>
    <pc:docChg chg="modSld">
      <pc:chgData name="利宏 岩谷" userId="ffff8d2f28272e31" providerId="LiveId" clId="{EDCAB21D-A4B7-401A-BDDC-B06E57B230F1}" dt="2026-07-13T08:36:28.927" v="362" actId="6549"/>
      <pc:docMkLst>
        <pc:docMk/>
      </pc:docMkLst>
      <pc:sldChg chg="modSp mod">
        <pc:chgData name="利宏 岩谷" userId="ffff8d2f28272e31" providerId="LiveId" clId="{EDCAB21D-A4B7-401A-BDDC-B06E57B230F1}" dt="2026-07-13T08:05:46.255" v="23" actId="20577"/>
        <pc:sldMkLst>
          <pc:docMk/>
          <pc:sldMk cId="0" sldId="257"/>
        </pc:sldMkLst>
        <pc:spChg chg="mod">
          <ac:chgData name="利宏 岩谷" userId="ffff8d2f28272e31" providerId="LiveId" clId="{EDCAB21D-A4B7-401A-BDDC-B06E57B230F1}" dt="2026-07-13T08:05:46.255" v="23" actId="20577"/>
          <ac:spMkLst>
            <pc:docMk/>
            <pc:sldMk cId="0" sldId="257"/>
            <ac:spMk id="12" creationId="{00000000-0000-0000-0000-000000000000}"/>
          </ac:spMkLst>
        </pc:spChg>
      </pc:sldChg>
      <pc:sldChg chg="modSp mod">
        <pc:chgData name="利宏 岩谷" userId="ffff8d2f28272e31" providerId="LiveId" clId="{EDCAB21D-A4B7-401A-BDDC-B06E57B230F1}" dt="2026-07-13T08:10:36.804" v="82" actId="20577"/>
        <pc:sldMkLst>
          <pc:docMk/>
          <pc:sldMk cId="0" sldId="258"/>
        </pc:sldMkLst>
        <pc:spChg chg="mod">
          <ac:chgData name="利宏 岩谷" userId="ffff8d2f28272e31" providerId="LiveId" clId="{EDCAB21D-A4B7-401A-BDDC-B06E57B230F1}" dt="2026-07-13T08:10:36.804" v="82" actId="20577"/>
          <ac:spMkLst>
            <pc:docMk/>
            <pc:sldMk cId="0" sldId="258"/>
            <ac:spMk id="7" creationId="{00000000-0000-0000-0000-000000000000}"/>
          </ac:spMkLst>
        </pc:spChg>
      </pc:sldChg>
      <pc:sldChg chg="modSp mod">
        <pc:chgData name="利宏 岩谷" userId="ffff8d2f28272e31" providerId="LiveId" clId="{EDCAB21D-A4B7-401A-BDDC-B06E57B230F1}" dt="2026-07-13T08:12:34.121" v="152" actId="20577"/>
        <pc:sldMkLst>
          <pc:docMk/>
          <pc:sldMk cId="0" sldId="259"/>
        </pc:sldMkLst>
        <pc:spChg chg="mod">
          <ac:chgData name="利宏 岩谷" userId="ffff8d2f28272e31" providerId="LiveId" clId="{EDCAB21D-A4B7-401A-BDDC-B06E57B230F1}" dt="2026-07-13T08:08:21.401" v="50" actId="20577"/>
          <ac:spMkLst>
            <pc:docMk/>
            <pc:sldMk cId="0" sldId="259"/>
            <ac:spMk id="18" creationId="{00000000-0000-0000-0000-000000000000}"/>
          </ac:spMkLst>
        </pc:spChg>
        <pc:spChg chg="mod">
          <ac:chgData name="利宏 岩谷" userId="ffff8d2f28272e31" providerId="LiveId" clId="{EDCAB21D-A4B7-401A-BDDC-B06E57B230F1}" dt="2026-07-13T08:12:34.121" v="152" actId="20577"/>
          <ac:spMkLst>
            <pc:docMk/>
            <pc:sldMk cId="0" sldId="259"/>
            <ac:spMk id="19" creationId="{00000000-0000-0000-0000-000000000000}"/>
          </ac:spMkLst>
        </pc:spChg>
      </pc:sldChg>
      <pc:sldChg chg="modSp mod">
        <pc:chgData name="利宏 岩谷" userId="ffff8d2f28272e31" providerId="LiveId" clId="{EDCAB21D-A4B7-401A-BDDC-B06E57B230F1}" dt="2026-07-13T08:11:45.938" v="130" actId="20577"/>
        <pc:sldMkLst>
          <pc:docMk/>
          <pc:sldMk cId="0" sldId="260"/>
        </pc:sldMkLst>
        <pc:spChg chg="mod">
          <ac:chgData name="利宏 岩谷" userId="ffff8d2f28272e31" providerId="LiveId" clId="{EDCAB21D-A4B7-401A-BDDC-B06E57B230F1}" dt="2026-07-13T08:11:38.733" v="114" actId="20577"/>
          <ac:spMkLst>
            <pc:docMk/>
            <pc:sldMk cId="0" sldId="260"/>
            <ac:spMk id="3" creationId="{00000000-0000-0000-0000-000000000000}"/>
          </ac:spMkLst>
        </pc:spChg>
        <pc:spChg chg="mod">
          <ac:chgData name="利宏 岩谷" userId="ffff8d2f28272e31" providerId="LiveId" clId="{EDCAB21D-A4B7-401A-BDDC-B06E57B230F1}" dt="2026-07-13T08:11:45.938" v="130" actId="20577"/>
          <ac:spMkLst>
            <pc:docMk/>
            <pc:sldMk cId="0" sldId="260"/>
            <ac:spMk id="4" creationId="{00000000-0000-0000-0000-000000000000}"/>
          </ac:spMkLst>
        </pc:spChg>
        <pc:spChg chg="mod">
          <ac:chgData name="利宏 岩谷" userId="ffff8d2f28272e31" providerId="LiveId" clId="{EDCAB21D-A4B7-401A-BDDC-B06E57B230F1}" dt="2026-07-13T08:11:17.488" v="98" actId="6549"/>
          <ac:spMkLst>
            <pc:docMk/>
            <pc:sldMk cId="0" sldId="260"/>
            <ac:spMk id="17" creationId="{00000000-0000-0000-0000-000000000000}"/>
          </ac:spMkLst>
        </pc:spChg>
      </pc:sldChg>
      <pc:sldChg chg="modSp mod">
        <pc:chgData name="利宏 岩谷" userId="ffff8d2f28272e31" providerId="LiveId" clId="{EDCAB21D-A4B7-401A-BDDC-B06E57B230F1}" dt="2026-07-13T08:15:43.830" v="282" actId="20577"/>
        <pc:sldMkLst>
          <pc:docMk/>
          <pc:sldMk cId="0" sldId="261"/>
        </pc:sldMkLst>
        <pc:spChg chg="mod">
          <ac:chgData name="利宏 岩谷" userId="ffff8d2f28272e31" providerId="LiveId" clId="{EDCAB21D-A4B7-401A-BDDC-B06E57B230F1}" dt="2026-07-13T08:13:32.691" v="170" actId="20577"/>
          <ac:spMkLst>
            <pc:docMk/>
            <pc:sldMk cId="0" sldId="261"/>
            <ac:spMk id="10" creationId="{00000000-0000-0000-0000-000000000000}"/>
          </ac:spMkLst>
        </pc:spChg>
        <pc:spChg chg="mod">
          <ac:chgData name="利宏 岩谷" userId="ffff8d2f28272e31" providerId="LiveId" clId="{EDCAB21D-A4B7-401A-BDDC-B06E57B230F1}" dt="2026-07-13T08:14:39.145" v="220" actId="6549"/>
          <ac:spMkLst>
            <pc:docMk/>
            <pc:sldMk cId="0" sldId="261"/>
            <ac:spMk id="18" creationId="{00000000-0000-0000-0000-000000000000}"/>
          </ac:spMkLst>
        </pc:spChg>
        <pc:spChg chg="mod">
          <ac:chgData name="利宏 岩谷" userId="ffff8d2f28272e31" providerId="LiveId" clId="{EDCAB21D-A4B7-401A-BDDC-B06E57B230F1}" dt="2026-07-13T08:15:43.830" v="282" actId="20577"/>
          <ac:spMkLst>
            <pc:docMk/>
            <pc:sldMk cId="0" sldId="261"/>
            <ac:spMk id="32" creationId="{00000000-0000-0000-0000-000000000000}"/>
          </ac:spMkLst>
        </pc:spChg>
      </pc:sldChg>
      <pc:sldChg chg="modSp mod">
        <pc:chgData name="利宏 岩谷" userId="ffff8d2f28272e31" providerId="LiveId" clId="{EDCAB21D-A4B7-401A-BDDC-B06E57B230F1}" dt="2026-07-13T08:17:12.770" v="287" actId="6549"/>
        <pc:sldMkLst>
          <pc:docMk/>
          <pc:sldMk cId="0" sldId="262"/>
        </pc:sldMkLst>
        <pc:spChg chg="mod">
          <ac:chgData name="利宏 岩谷" userId="ffff8d2f28272e31" providerId="LiveId" clId="{EDCAB21D-A4B7-401A-BDDC-B06E57B230F1}" dt="2026-07-13T08:16:59.445" v="286" actId="20577"/>
          <ac:spMkLst>
            <pc:docMk/>
            <pc:sldMk cId="0" sldId="262"/>
            <ac:spMk id="11" creationId="{00000000-0000-0000-0000-000000000000}"/>
          </ac:spMkLst>
        </pc:spChg>
        <pc:spChg chg="mod">
          <ac:chgData name="利宏 岩谷" userId="ffff8d2f28272e31" providerId="LiveId" clId="{EDCAB21D-A4B7-401A-BDDC-B06E57B230F1}" dt="2026-07-13T08:17:12.770" v="287" actId="6549"/>
          <ac:spMkLst>
            <pc:docMk/>
            <pc:sldMk cId="0" sldId="262"/>
            <ac:spMk id="38" creationId="{00000000-0000-0000-0000-000000000000}"/>
          </ac:spMkLst>
        </pc:spChg>
      </pc:sldChg>
      <pc:sldChg chg="modSp mod">
        <pc:chgData name="利宏 岩谷" userId="ffff8d2f28272e31" providerId="LiveId" clId="{EDCAB21D-A4B7-401A-BDDC-B06E57B230F1}" dt="2026-07-13T08:22:29.869" v="301" actId="20577"/>
        <pc:sldMkLst>
          <pc:docMk/>
          <pc:sldMk cId="0" sldId="263"/>
        </pc:sldMkLst>
        <pc:spChg chg="mod">
          <ac:chgData name="利宏 岩谷" userId="ffff8d2f28272e31" providerId="LiveId" clId="{EDCAB21D-A4B7-401A-BDDC-B06E57B230F1}" dt="2026-07-13T08:17:33.568" v="288" actId="6549"/>
          <ac:spMkLst>
            <pc:docMk/>
            <pc:sldMk cId="0" sldId="263"/>
            <ac:spMk id="49" creationId="{00000000-0000-0000-0000-000000000000}"/>
          </ac:spMkLst>
        </pc:spChg>
        <pc:spChg chg="mod">
          <ac:chgData name="利宏 岩谷" userId="ffff8d2f28272e31" providerId="LiveId" clId="{EDCAB21D-A4B7-401A-BDDC-B06E57B230F1}" dt="2026-07-13T08:22:29.869" v="301" actId="20577"/>
          <ac:spMkLst>
            <pc:docMk/>
            <pc:sldMk cId="0" sldId="263"/>
            <ac:spMk id="50" creationId="{00000000-0000-0000-0000-000000000000}"/>
          </ac:spMkLst>
        </pc:spChg>
      </pc:sldChg>
      <pc:sldChg chg="modSp mod">
        <pc:chgData name="利宏 岩谷" userId="ffff8d2f28272e31" providerId="LiveId" clId="{EDCAB21D-A4B7-401A-BDDC-B06E57B230F1}" dt="2026-07-13T08:17:37.914" v="289" actId="6549"/>
        <pc:sldMkLst>
          <pc:docMk/>
          <pc:sldMk cId="0" sldId="264"/>
        </pc:sldMkLst>
        <pc:spChg chg="mod">
          <ac:chgData name="利宏 岩谷" userId="ffff8d2f28272e31" providerId="LiveId" clId="{EDCAB21D-A4B7-401A-BDDC-B06E57B230F1}" dt="2026-07-13T08:17:37.914" v="289" actId="6549"/>
          <ac:spMkLst>
            <pc:docMk/>
            <pc:sldMk cId="0" sldId="264"/>
            <ac:spMk id="47" creationId="{00000000-0000-0000-0000-000000000000}"/>
          </ac:spMkLst>
        </pc:spChg>
      </pc:sldChg>
      <pc:sldChg chg="modSp mod">
        <pc:chgData name="利宏 岩谷" userId="ffff8d2f28272e31" providerId="LiveId" clId="{EDCAB21D-A4B7-401A-BDDC-B06E57B230F1}" dt="2026-07-13T08:30:52.445" v="306" actId="20577"/>
        <pc:sldMkLst>
          <pc:docMk/>
          <pc:sldMk cId="0" sldId="265"/>
        </pc:sldMkLst>
        <pc:spChg chg="mod">
          <ac:chgData name="利宏 岩谷" userId="ffff8d2f28272e31" providerId="LiveId" clId="{EDCAB21D-A4B7-401A-BDDC-B06E57B230F1}" dt="2026-07-13T08:30:05.539" v="304" actId="20577"/>
          <ac:spMkLst>
            <pc:docMk/>
            <pc:sldMk cId="0" sldId="265"/>
            <ac:spMk id="5" creationId="{00000000-0000-0000-0000-000000000000}"/>
          </ac:spMkLst>
        </pc:spChg>
        <pc:spChg chg="mod">
          <ac:chgData name="利宏 岩谷" userId="ffff8d2f28272e31" providerId="LiveId" clId="{EDCAB21D-A4B7-401A-BDDC-B06E57B230F1}" dt="2026-07-13T08:30:52.445" v="306" actId="20577"/>
          <ac:spMkLst>
            <pc:docMk/>
            <pc:sldMk cId="0" sldId="265"/>
            <ac:spMk id="6" creationId="{00000000-0000-0000-0000-000000000000}"/>
          </ac:spMkLst>
        </pc:spChg>
        <pc:spChg chg="mod">
          <ac:chgData name="利宏 岩谷" userId="ffff8d2f28272e31" providerId="LiveId" clId="{EDCAB21D-A4B7-401A-BDDC-B06E57B230F1}" dt="2026-07-13T08:17:40.741" v="290" actId="6549"/>
          <ac:spMkLst>
            <pc:docMk/>
            <pc:sldMk cId="0" sldId="265"/>
            <ac:spMk id="47" creationId="{00000000-0000-0000-0000-000000000000}"/>
          </ac:spMkLst>
        </pc:spChg>
      </pc:sldChg>
      <pc:sldChg chg="modSp mod">
        <pc:chgData name="利宏 岩谷" userId="ffff8d2f28272e31" providerId="LiveId" clId="{EDCAB21D-A4B7-401A-BDDC-B06E57B230F1}" dt="2026-07-13T08:17:43.819" v="291" actId="6549"/>
        <pc:sldMkLst>
          <pc:docMk/>
          <pc:sldMk cId="0" sldId="266"/>
        </pc:sldMkLst>
        <pc:spChg chg="mod">
          <ac:chgData name="利宏 岩谷" userId="ffff8d2f28272e31" providerId="LiveId" clId="{EDCAB21D-A4B7-401A-BDDC-B06E57B230F1}" dt="2026-07-13T08:10:00.141" v="72" actId="20577"/>
          <ac:spMkLst>
            <pc:docMk/>
            <pc:sldMk cId="0" sldId="266"/>
            <ac:spMk id="11" creationId="{00000000-0000-0000-0000-000000000000}"/>
          </ac:spMkLst>
        </pc:spChg>
        <pc:spChg chg="mod">
          <ac:chgData name="利宏 岩谷" userId="ffff8d2f28272e31" providerId="LiveId" clId="{EDCAB21D-A4B7-401A-BDDC-B06E57B230F1}" dt="2026-07-13T08:17:43.819" v="291" actId="6549"/>
          <ac:spMkLst>
            <pc:docMk/>
            <pc:sldMk cId="0" sldId="266"/>
            <ac:spMk id="46" creationId="{00000000-0000-0000-0000-000000000000}"/>
          </ac:spMkLst>
        </pc:spChg>
      </pc:sldChg>
      <pc:sldChg chg="modSp mod">
        <pc:chgData name="利宏 岩谷" userId="ffff8d2f28272e31" providerId="LiveId" clId="{EDCAB21D-A4B7-401A-BDDC-B06E57B230F1}" dt="2026-07-13T08:17:46.945" v="292" actId="6549"/>
        <pc:sldMkLst>
          <pc:docMk/>
          <pc:sldMk cId="0" sldId="267"/>
        </pc:sldMkLst>
        <pc:spChg chg="mod">
          <ac:chgData name="利宏 岩谷" userId="ffff8d2f28272e31" providerId="LiveId" clId="{EDCAB21D-A4B7-401A-BDDC-B06E57B230F1}" dt="2026-07-13T08:17:46.945" v="292" actId="6549"/>
          <ac:spMkLst>
            <pc:docMk/>
            <pc:sldMk cId="0" sldId="267"/>
            <ac:spMk id="47" creationId="{00000000-0000-0000-0000-000000000000}"/>
          </ac:spMkLst>
        </pc:spChg>
      </pc:sldChg>
      <pc:sldChg chg="modSp mod">
        <pc:chgData name="利宏 岩谷" userId="ffff8d2f28272e31" providerId="LiveId" clId="{EDCAB21D-A4B7-401A-BDDC-B06E57B230F1}" dt="2026-07-13T08:13:00.295" v="168" actId="20577"/>
        <pc:sldMkLst>
          <pc:docMk/>
          <pc:sldMk cId="0" sldId="270"/>
        </pc:sldMkLst>
        <pc:spChg chg="mod">
          <ac:chgData name="利宏 岩谷" userId="ffff8d2f28272e31" providerId="LiveId" clId="{EDCAB21D-A4B7-401A-BDDC-B06E57B230F1}" dt="2026-07-13T08:13:00.295" v="168" actId="20577"/>
          <ac:spMkLst>
            <pc:docMk/>
            <pc:sldMk cId="0" sldId="270"/>
            <ac:spMk id="8" creationId="{00000000-0000-0000-0000-000000000000}"/>
          </ac:spMkLst>
        </pc:spChg>
      </pc:sldChg>
      <pc:sldChg chg="modSp mod">
        <pc:chgData name="利宏 岩谷" userId="ffff8d2f28272e31" providerId="LiveId" clId="{EDCAB21D-A4B7-401A-BDDC-B06E57B230F1}" dt="2026-07-13T08:34:00.505" v="332" actId="20577"/>
        <pc:sldMkLst>
          <pc:docMk/>
          <pc:sldMk cId="0" sldId="271"/>
        </pc:sldMkLst>
        <pc:spChg chg="mod">
          <ac:chgData name="利宏 岩谷" userId="ffff8d2f28272e31" providerId="LiveId" clId="{EDCAB21D-A4B7-401A-BDDC-B06E57B230F1}" dt="2026-07-13T08:32:15.045" v="307" actId="207"/>
          <ac:spMkLst>
            <pc:docMk/>
            <pc:sldMk cId="0" sldId="271"/>
            <ac:spMk id="5" creationId="{00000000-0000-0000-0000-000000000000}"/>
          </ac:spMkLst>
        </pc:spChg>
        <pc:spChg chg="mod">
          <ac:chgData name="利宏 岩谷" userId="ffff8d2f28272e31" providerId="LiveId" clId="{EDCAB21D-A4B7-401A-BDDC-B06E57B230F1}" dt="2026-07-13T08:32:23.030" v="308" actId="207"/>
          <ac:spMkLst>
            <pc:docMk/>
            <pc:sldMk cId="0" sldId="271"/>
            <ac:spMk id="8" creationId="{00000000-0000-0000-0000-000000000000}"/>
          </ac:spMkLst>
        </pc:spChg>
        <pc:spChg chg="mod">
          <ac:chgData name="利宏 岩谷" userId="ffff8d2f28272e31" providerId="LiveId" clId="{EDCAB21D-A4B7-401A-BDDC-B06E57B230F1}" dt="2026-07-13T08:32:27.252" v="309" actId="207"/>
          <ac:spMkLst>
            <pc:docMk/>
            <pc:sldMk cId="0" sldId="271"/>
            <ac:spMk id="11" creationId="{00000000-0000-0000-0000-000000000000}"/>
          </ac:spMkLst>
        </pc:spChg>
        <pc:spChg chg="mod">
          <ac:chgData name="利宏 岩谷" userId="ffff8d2f28272e31" providerId="LiveId" clId="{EDCAB21D-A4B7-401A-BDDC-B06E57B230F1}" dt="2026-07-13T08:33:49.632" v="329" actId="20577"/>
          <ac:spMkLst>
            <pc:docMk/>
            <pc:sldMk cId="0" sldId="271"/>
            <ac:spMk id="15" creationId="{00000000-0000-0000-0000-000000000000}"/>
          </ac:spMkLst>
        </pc:spChg>
        <pc:spChg chg="mod">
          <ac:chgData name="利宏 岩谷" userId="ffff8d2f28272e31" providerId="LiveId" clId="{EDCAB21D-A4B7-401A-BDDC-B06E57B230F1}" dt="2026-07-13T08:33:53.173" v="330" actId="20577"/>
          <ac:spMkLst>
            <pc:docMk/>
            <pc:sldMk cId="0" sldId="271"/>
            <ac:spMk id="17" creationId="{00000000-0000-0000-0000-000000000000}"/>
          </ac:spMkLst>
        </pc:spChg>
        <pc:spChg chg="mod">
          <ac:chgData name="利宏 岩谷" userId="ffff8d2f28272e31" providerId="LiveId" clId="{EDCAB21D-A4B7-401A-BDDC-B06E57B230F1}" dt="2026-07-13T08:33:57.282" v="331" actId="20577"/>
          <ac:spMkLst>
            <pc:docMk/>
            <pc:sldMk cId="0" sldId="271"/>
            <ac:spMk id="19" creationId="{00000000-0000-0000-0000-000000000000}"/>
          </ac:spMkLst>
        </pc:spChg>
        <pc:spChg chg="mod">
          <ac:chgData name="利宏 岩谷" userId="ffff8d2f28272e31" providerId="LiveId" clId="{EDCAB21D-A4B7-401A-BDDC-B06E57B230F1}" dt="2026-07-13T08:34:00.505" v="332" actId="20577"/>
          <ac:spMkLst>
            <pc:docMk/>
            <pc:sldMk cId="0" sldId="271"/>
            <ac:spMk id="21" creationId="{00000000-0000-0000-0000-000000000000}"/>
          </ac:spMkLst>
        </pc:spChg>
      </pc:sldChg>
      <pc:sldChg chg="modSp mod">
        <pc:chgData name="利宏 岩谷" userId="ffff8d2f28272e31" providerId="LiveId" clId="{EDCAB21D-A4B7-401A-BDDC-B06E57B230F1}" dt="2026-07-13T08:36:28.927" v="362" actId="6549"/>
        <pc:sldMkLst>
          <pc:docMk/>
          <pc:sldMk cId="0" sldId="274"/>
        </pc:sldMkLst>
        <pc:spChg chg="mod">
          <ac:chgData name="利宏 岩谷" userId="ffff8d2f28272e31" providerId="LiveId" clId="{EDCAB21D-A4B7-401A-BDDC-B06E57B230F1}" dt="2026-07-13T08:35:09.525" v="339" actId="20577"/>
          <ac:spMkLst>
            <pc:docMk/>
            <pc:sldMk cId="0" sldId="274"/>
            <ac:spMk id="8" creationId="{00000000-0000-0000-0000-000000000000}"/>
          </ac:spMkLst>
        </pc:spChg>
        <pc:spChg chg="mod">
          <ac:chgData name="利宏 岩谷" userId="ffff8d2f28272e31" providerId="LiveId" clId="{EDCAB21D-A4B7-401A-BDDC-B06E57B230F1}" dt="2026-07-13T08:35:38.998" v="350" actId="6549"/>
          <ac:spMkLst>
            <pc:docMk/>
            <pc:sldMk cId="0" sldId="274"/>
            <ac:spMk id="13" creationId="{00000000-0000-0000-0000-000000000000}"/>
          </ac:spMkLst>
        </pc:spChg>
        <pc:spChg chg="mod">
          <ac:chgData name="利宏 岩谷" userId="ffff8d2f28272e31" providerId="LiveId" clId="{EDCAB21D-A4B7-401A-BDDC-B06E57B230F1}" dt="2026-07-13T08:36:00.109" v="357" actId="6549"/>
          <ac:spMkLst>
            <pc:docMk/>
            <pc:sldMk cId="0" sldId="274"/>
            <ac:spMk id="17" creationId="{00000000-0000-0000-0000-000000000000}"/>
          </ac:spMkLst>
        </pc:spChg>
        <pc:spChg chg="mod">
          <ac:chgData name="利宏 岩谷" userId="ffff8d2f28272e31" providerId="LiveId" clId="{EDCAB21D-A4B7-401A-BDDC-B06E57B230F1}" dt="2026-07-13T08:36:28.927" v="362" actId="6549"/>
          <ac:spMkLst>
            <pc:docMk/>
            <pc:sldMk cId="0" sldId="274"/>
            <ac:spMk id="2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1626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651760" cy="115214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F172A">
                <a:alpha val="22000"/>
              </a:srgbClr>
            </a:outerShdw>
          </a:effectLst>
        </p:spPr>
      </p:sp>
      <p:pic>
        <p:nvPicPr>
          <p:cNvPr id="3" name="Image 0" descr="/mnt/user-data/uploads/ビズもん_vercel/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685800"/>
            <a:ext cx="237744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965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38BDF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企業向け　1日1問の社員教育サービス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77240" y="242316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1日1問が、</a:t>
            </a:r>
            <a:endParaRPr lang="en-US" sz="4600" dirty="0"/>
          </a:p>
          <a:p>
            <a:pPr marL="0" indent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会社を強くする。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822960" y="43434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DBEA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『ビズもん』は、社会人としての知識・思考力・業務姿勢を毎日少しずつ育て、学習状況と組織の変化を見える化するマイクロラーニングサービスです。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22960" y="5440680"/>
            <a:ext cx="324612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544068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サービスご紹介資料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297680" y="5440680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2026年7月　|　資料請求受付時ご送付版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CONTENTS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本資料の内容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417320" y="1746504"/>
            <a:ext cx="0" cy="548640"/>
          </a:xfrm>
          <a:prstGeom prst="line">
            <a:avLst/>
          </a:prstGeom>
          <a:noFill/>
          <a:ln w="1587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0200" y="169164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こんな課題ありませんか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2478024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417320" y="2532888"/>
            <a:ext cx="0" cy="548640"/>
          </a:xfrm>
          <a:prstGeom prst="line">
            <a:avLst/>
          </a:prstGeom>
          <a:noFill/>
          <a:ln w="1587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0200" y="2478024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サービスコンセプト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3264408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417320" y="3319272"/>
            <a:ext cx="0" cy="548640"/>
          </a:xfrm>
          <a:prstGeom prst="line">
            <a:avLst/>
          </a:prstGeom>
          <a:noFill/>
          <a:ln w="1587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00200" y="3264408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145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『</a:t>
            </a:r>
            <a:r>
              <a:rPr lang="en-US" sz="1450" b="1" dirty="0" err="1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ビズもん</a:t>
            </a:r>
            <a:r>
              <a:rPr lang="en-US" altLang="ja-JP" sz="1450" b="1" dirty="0" err="1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』</a:t>
            </a:r>
            <a:r>
              <a:rPr lang="en-US" sz="1450" b="1" dirty="0" err="1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とは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48640" y="4050792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417320" y="4105656"/>
            <a:ext cx="0" cy="548640"/>
          </a:xfrm>
          <a:prstGeom prst="line">
            <a:avLst/>
          </a:prstGeom>
          <a:noFill/>
          <a:ln w="1587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00200" y="4050792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主な機能（6つの機能を詳しくご紹介）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8640" y="4837176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05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417320" y="4892040"/>
            <a:ext cx="0" cy="548640"/>
          </a:xfrm>
          <a:prstGeom prst="line">
            <a:avLst/>
          </a:prstGeom>
          <a:noFill/>
          <a:ln w="15875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4837176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学習領域（全21分野）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48640" y="562356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417320" y="5678424"/>
            <a:ext cx="0" cy="548640"/>
          </a:xfrm>
          <a:prstGeom prst="line">
            <a:avLst/>
          </a:prstGeom>
          <a:noFill/>
          <a:ln w="15875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00200" y="562356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自社理解カテゴリー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126480" y="169164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07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995160" y="1746504"/>
            <a:ext cx="0" cy="548640"/>
          </a:xfrm>
          <a:prstGeom prst="line">
            <a:avLst/>
          </a:prstGeom>
          <a:noFill/>
          <a:ln w="15875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78040" y="169164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回答画面のプラスアルファ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126480" y="2478024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08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995160" y="2532888"/>
            <a:ext cx="0" cy="548640"/>
          </a:xfrm>
          <a:prstGeom prst="line">
            <a:avLst/>
          </a:prstGeom>
          <a:noFill/>
          <a:ln w="15875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78040" y="2478024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導入がもたらす変化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126480" y="3264408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09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995160" y="3319272"/>
            <a:ext cx="0" cy="548640"/>
          </a:xfrm>
          <a:prstGeom prst="line">
            <a:avLst/>
          </a:prstGeom>
          <a:noFill/>
          <a:ln w="15875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78040" y="3264408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料金プラン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126480" y="4050792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995160" y="4105656"/>
            <a:ext cx="0" cy="548640"/>
          </a:xfrm>
          <a:prstGeom prst="line">
            <a:avLst/>
          </a:prstGeom>
          <a:noFill/>
          <a:ln w="15875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78040" y="4050792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オプションサービス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6126480" y="4837176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11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995160" y="4892040"/>
            <a:ext cx="0" cy="548640"/>
          </a:xfrm>
          <a:prstGeom prst="line">
            <a:avLst/>
          </a:prstGeom>
          <a:noFill/>
          <a:ln w="15875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78040" y="4837176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導入までの流れ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6126480" y="562356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12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6995160" y="5678424"/>
            <a:ext cx="0" cy="548640"/>
          </a:xfrm>
          <a:prstGeom prst="line">
            <a:avLst/>
          </a:prstGeom>
          <a:noFill/>
          <a:ln w="15875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78040" y="562356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お問い合わせ・お申し込み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ビズもん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9731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教育・人事のご担当者様へ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もし、次のようなお悩みをお持ちでしたら、『ビズもん』はきっとお役に立てます。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1206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945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FEDD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500" b="1" dirty="0">
                <a:solidFill>
                  <a:srgbClr val="9A3412"/>
                </a:solidFill>
                <a:latin typeface="BIZ UDPGothic" pitchFamily="34" charset="0"/>
                <a:ea typeface="BIZ UDPGothic" pitchFamily="34" charset="-122"/>
              </a:rPr>
              <a:t>基本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1671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新入社員・若手への基本指導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社会人としての基本をどう教えればよいか分からず、体系立てて伝える時間も仕組みもない。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965960"/>
            <a:ext cx="51206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21945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FEDD5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341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定着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86600" y="21671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研修の定着感が持てない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55080" y="283464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研修は実施しているが、日々の業務に定着している実感が持てない。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51206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38912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FEDD5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389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341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指導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43616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指導・助言の機会の減少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502920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上司から部下へのちょっとした指導・助言の機会が、年々減っている。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26480" y="4160520"/>
            <a:ext cx="51206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438912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FEDD5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4389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341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安心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86600" y="43616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コンプライアンスリスクへの不安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55080" y="502920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ハラスメントや情報漏えいといった重大リスクを、もっと手前の段階で防ぎたい。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ビズもん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負の連鎖を、毎日の1問で断ち切る。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知識がなければ理解の限界に気付けない。思考力がなければ情報を整理できない。姿勢がなければ正しい判断を行動に移せない。『ビズもん』は、その土台を毎日の1問で育てます。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9476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C262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起こりがちな負の連鎖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52348" y="233172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/>
        </p:spPr>
      </p:sp>
      <p:sp>
        <p:nvSpPr>
          <p:cNvPr id="7" name="Text 5"/>
          <p:cNvSpPr/>
          <p:nvPr/>
        </p:nvSpPr>
        <p:spPr>
          <a:xfrm>
            <a:off x="952348" y="23317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91C1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無知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84068" y="233172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04108" y="233172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/>
        </p:spPr>
      </p:sp>
      <p:sp>
        <p:nvSpPr>
          <p:cNvPr id="10" name="Text 8"/>
          <p:cNvSpPr/>
          <p:nvPr/>
        </p:nvSpPr>
        <p:spPr>
          <a:xfrm>
            <a:off x="3604108" y="23317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91C1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無自覚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35828" y="233172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55868" y="233172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/>
        </p:spPr>
      </p:sp>
      <p:sp>
        <p:nvSpPr>
          <p:cNvPr id="13" name="Text 11"/>
          <p:cNvSpPr/>
          <p:nvPr/>
        </p:nvSpPr>
        <p:spPr>
          <a:xfrm>
            <a:off x="6255868" y="23317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91C1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考慮不足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87588" y="233172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907628" y="233172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/>
        </p:spPr>
      </p:sp>
      <p:sp>
        <p:nvSpPr>
          <p:cNvPr id="16" name="Text 14"/>
          <p:cNvSpPr/>
          <p:nvPr/>
        </p:nvSpPr>
        <p:spPr>
          <a:xfrm>
            <a:off x="8907628" y="23317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91C1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判断ミス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15688" y="3429000"/>
            <a:ext cx="2560320" cy="502920"/>
          </a:xfrm>
          <a:prstGeom prst="roundRect">
            <a:avLst>
              <a:gd name="adj" fmla="val 49091"/>
            </a:avLst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4815688" y="34290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毎日の1問が、こ</a:t>
            </a:r>
            <a:r>
              <a:rPr lang="ja-JP" altLang="en-US" sz="125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う👇</a:t>
            </a:r>
            <a:r>
              <a:rPr lang="en-US" sz="1250" b="1" dirty="0" err="1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変える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38679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ja-JP" sz="125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『</a:t>
            </a:r>
            <a:r>
              <a:rPr lang="en-US" sz="1250" b="1" dirty="0" err="1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ビズもん</a:t>
            </a:r>
            <a:r>
              <a:rPr lang="en-US" altLang="ja-JP" sz="1250" b="1" dirty="0" err="1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』</a:t>
            </a:r>
            <a:r>
              <a:rPr lang="en-US" sz="1250" b="1" dirty="0" err="1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が育てる成長サイクル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52348" y="425196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DBEAFE"/>
          </a:solidFill>
          <a:ln/>
        </p:spPr>
      </p:sp>
      <p:sp>
        <p:nvSpPr>
          <p:cNvPr id="21" name="Text 19"/>
          <p:cNvSpPr/>
          <p:nvPr/>
        </p:nvSpPr>
        <p:spPr>
          <a:xfrm>
            <a:off x="952348" y="42519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知識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84068" y="425196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604108" y="425196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DBEAFE"/>
          </a:solidFill>
          <a:ln/>
        </p:spPr>
      </p:sp>
      <p:sp>
        <p:nvSpPr>
          <p:cNvPr id="24" name="Text 22"/>
          <p:cNvSpPr/>
          <p:nvPr/>
        </p:nvSpPr>
        <p:spPr>
          <a:xfrm>
            <a:off x="3604108" y="42519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自覚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35828" y="425196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255868" y="425196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DBEAFE"/>
          </a:solidFill>
          <a:ln/>
        </p:spPr>
      </p:sp>
      <p:sp>
        <p:nvSpPr>
          <p:cNvPr id="27" name="Text 25"/>
          <p:cNvSpPr/>
          <p:nvPr/>
        </p:nvSpPr>
        <p:spPr>
          <a:xfrm>
            <a:off x="6255868" y="42519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考慮範囲の拡大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87588" y="425196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8907628" y="425196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DBEAFE"/>
          </a:solidFill>
          <a:ln/>
        </p:spPr>
      </p:sp>
      <p:sp>
        <p:nvSpPr>
          <p:cNvPr id="30" name="Text 28"/>
          <p:cNvSpPr/>
          <p:nvPr/>
        </p:nvSpPr>
        <p:spPr>
          <a:xfrm>
            <a:off x="8907628" y="42519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行動の改善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2960" y="5532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「1日1問が、会社を強くする。」――知識を得ることで理解の限界を自覚し、考慮範囲が広がり、行動が変わる。この積み重ねが、組織の判断の質と信頼性を底上げします。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ビズもん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ABOUT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ja-JP" sz="28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『</a:t>
            </a:r>
            <a:r>
              <a:rPr lang="en-US" sz="2800" b="1" dirty="0" err="1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ビズもん</a:t>
            </a:r>
            <a:r>
              <a:rPr lang="en-US" altLang="ja-JP" sz="2800" b="1" dirty="0" err="1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』</a:t>
            </a:r>
            <a:r>
              <a:rPr lang="en-US" sz="2800" b="1" dirty="0" err="1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とは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943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altLang="ja-JP" sz="145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『</a:t>
            </a:r>
            <a:r>
              <a:rPr lang="en-US" sz="1450" dirty="0" err="1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ビズもん</a:t>
            </a:r>
            <a:r>
              <a:rPr lang="en-US" altLang="ja-JP" sz="1450" dirty="0" err="1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』</a:t>
            </a:r>
            <a:r>
              <a:rPr lang="en-US" sz="1450" dirty="0" err="1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は、企業で働く</a:t>
            </a:r>
            <a:r>
              <a:rPr lang="ja-JP" altLang="en-US" sz="145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社員</a:t>
            </a:r>
            <a:r>
              <a:rPr lang="en-US" sz="145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一人ひとりに向けた1日1問のマイクロラーニングサービスです。知識・思考力・業務姿勢を、日々の小さな学びを通じて身につけ、組織全体の判断の質とコンプライアンス水準を底上げします。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15468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集合研修のように時間や場所を確保する必要がなく、どんな企業でも無理なく、今日から始めることができます。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4343400"/>
            <a:ext cx="5943600" cy="1417320"/>
          </a:xfrm>
          <a:prstGeom prst="roundRect">
            <a:avLst>
              <a:gd name="adj" fmla="val 6452"/>
            </a:avLst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5262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「1日1問が、会社を強くする。」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498348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誰に、何を届けるのか――新入社員からベテラン、管理職まで、どの会社に行っても通用する“社会人としての土台”を届けます。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03720" y="1554480"/>
            <a:ext cx="23774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086600" y="170078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1日1問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086600" y="2286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所要時間　数分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537192" y="1554480"/>
            <a:ext cx="23774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720072" y="170078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全21分野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720072" y="2286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197の出題テーマ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903720" y="3044952"/>
            <a:ext cx="23774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086600" y="319125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クラウド型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086600" y="37764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 err="1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導入即日</a:t>
            </a:r>
            <a:r>
              <a:rPr lang="ja-JP" altLang="en-US" sz="1150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から</a:t>
            </a:r>
            <a:r>
              <a:rPr lang="en-US" sz="1150" dirty="0" err="1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利用</a:t>
            </a:r>
            <a:r>
              <a:rPr lang="ja-JP" altLang="en-US" sz="1150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可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537192" y="3044952"/>
            <a:ext cx="23774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720072" y="319125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部署別・役職別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720072" y="37764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学習状況を見える化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ビズもん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FUNCTIONS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主な機能　―　6つの機能でできること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社員への毎日の出題・配信から、部署別・役職別の学習状況の可視化、ユーザーの招待・権限管理まで。次のページから、それぞれの機能について「目的」「できること」「利用の流れ」を詳しくご紹介します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12064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478024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4780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51960" y="2276856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4251960" y="227685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利用者向け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371600" y="227685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 err="1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毎日のクイズ・結果確認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371600" y="267919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毎日1問に回答し、その場で正誤と解説を確認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2148840"/>
            <a:ext cx="512064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2478024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4780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829800" y="2276856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16" name="Text 14"/>
          <p:cNvSpPr/>
          <p:nvPr/>
        </p:nvSpPr>
        <p:spPr>
          <a:xfrm>
            <a:off x="9829800" y="227685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利用者向け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949440" y="227685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学習履歴・傾向分析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949440" y="267919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 err="1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自分の理解度</a:t>
            </a:r>
            <a:r>
              <a:rPr lang="ja-JP" altLang="en-US" sz="110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を認識し、振り返りができる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502152"/>
            <a:ext cx="512064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831336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8313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03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251960" y="363016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/>
        </p:spPr>
      </p:sp>
      <p:sp>
        <p:nvSpPr>
          <p:cNvPr id="23" name="Text 21"/>
          <p:cNvSpPr/>
          <p:nvPr/>
        </p:nvSpPr>
        <p:spPr>
          <a:xfrm>
            <a:off x="4251960" y="363016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A341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管理者向け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371600" y="3630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ダッシュボード・レポート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371600" y="4032504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誰がどれだけ理解しているかを組織単位で把握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3502152"/>
            <a:ext cx="512064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09360" y="3831336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38313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04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829800" y="363016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/>
        </p:spPr>
      </p:sp>
      <p:sp>
        <p:nvSpPr>
          <p:cNvPr id="30" name="Text 28"/>
          <p:cNvSpPr/>
          <p:nvPr/>
        </p:nvSpPr>
        <p:spPr>
          <a:xfrm>
            <a:off x="9829800" y="363016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A341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管理者向け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949440" y="3630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出題カテゴリー設定・自社専用問題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949440" y="4032504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 err="1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自社に必要な</a:t>
            </a:r>
            <a:r>
              <a:rPr lang="ja-JP" altLang="en-US" sz="110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分野のクイズを選択、追加できる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855464"/>
            <a:ext cx="512064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1520" y="5184648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5184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05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4251960" y="498348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/>
        </p:spPr>
      </p:sp>
      <p:sp>
        <p:nvSpPr>
          <p:cNvPr id="37" name="Text 35"/>
          <p:cNvSpPr/>
          <p:nvPr/>
        </p:nvSpPr>
        <p:spPr>
          <a:xfrm>
            <a:off x="4251960" y="49834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A341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管理者向け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371600" y="4983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ユーザー管理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371600" y="5385816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入退社・異動があっても手間をかけずに運用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26480" y="4855464"/>
            <a:ext cx="512064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09360" y="5184648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/>
        </p:spPr>
      </p:sp>
      <p:sp>
        <p:nvSpPr>
          <p:cNvPr id="42" name="Text 40"/>
          <p:cNvSpPr/>
          <p:nvPr/>
        </p:nvSpPr>
        <p:spPr>
          <a:xfrm>
            <a:off x="6309360" y="5184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06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9829800" y="498348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44" name="Text 42"/>
          <p:cNvSpPr/>
          <p:nvPr/>
        </p:nvSpPr>
        <p:spPr>
          <a:xfrm>
            <a:off x="9829800" y="49834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利用者向け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949440" y="4983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各種設定・毎日のプラスアルファ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6949440" y="5385816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続けやすさを支える設定と、日々のちょっとした楽しみ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ビズもん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FUNCTION 01 ／ DAILY QUIZ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454335" y="402336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10454335" y="40233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利用者向け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毎日1問に回答し、その場で正誤と解説を確認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目的　</a:t>
            </a:r>
            <a:r>
              <a:rPr lang="en-US" sz="120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忙しい毎日でも、たった数分の習慣で“気付き”を積み重ねられるようにする。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8366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できること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57984"/>
            <a:ext cx="5623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設定された出題カテゴリーに沿って、毎日1問（A・B・Cの3択）が届く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798064"/>
            <a:ext cx="5623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ja-JP" altLang="en-US" sz="115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</a:t>
            </a:r>
            <a:r>
              <a:rPr lang="en-US" sz="1150" dirty="0" err="1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今日の問題</a:t>
            </a:r>
            <a:r>
              <a:rPr lang="ja-JP" altLang="en-US" sz="115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」</a:t>
            </a:r>
            <a:r>
              <a:rPr lang="en-US" sz="115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は原則1日1回。回答するとその場で正誤・正解・解説を確認できる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438144"/>
            <a:ext cx="5623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マイページのカレンダーの○×から、過去の回答結果を日別に振り返れる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720840" y="1371600"/>
            <a:ext cx="489204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85432" y="1463040"/>
            <a:ext cx="310896" cy="310896"/>
          </a:xfrm>
          <a:prstGeom prst="roundRect">
            <a:avLst>
              <a:gd name="adj" fmla="val 35294"/>
            </a:avLst>
          </a:prstGeom>
          <a:solidFill>
            <a:srgbClr val="DBEAFE"/>
          </a:solidFill>
          <a:ln/>
        </p:spPr>
      </p:sp>
      <p:sp>
        <p:nvSpPr>
          <p:cNvPr id="16" name="Text 14"/>
          <p:cNvSpPr/>
          <p:nvPr/>
        </p:nvSpPr>
        <p:spPr>
          <a:xfrm>
            <a:off x="6885432" y="1463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Q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287768" y="13716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今日の問題・結果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0561320" y="1472184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/>
        </p:spPr>
      </p:sp>
      <p:sp>
        <p:nvSpPr>
          <p:cNvPr id="19" name="Text 17"/>
          <p:cNvSpPr/>
          <p:nvPr/>
        </p:nvSpPr>
        <p:spPr>
          <a:xfrm>
            <a:off x="10561320" y="14721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画面イメージ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85432" y="1883664"/>
            <a:ext cx="456285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22008" y="2011680"/>
            <a:ext cx="4489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情報管理・セキュリティ ＞ フィッシング対策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922008" y="2231136"/>
            <a:ext cx="4489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Q. フィッシングメールを見分けるポイントとして、最も適切なものはどれか。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922008" y="2761488"/>
            <a:ext cx="4489704" cy="329184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276148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287768" y="2761488"/>
            <a:ext cx="4032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パスワードを定期的に変更する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22008" y="3163824"/>
            <a:ext cx="4489704" cy="329184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316382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87768" y="3163824"/>
            <a:ext cx="3483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653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リンク先URLが公式ドメインと一致するか確認する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71632" y="3163824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6A34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正解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922008" y="3566160"/>
            <a:ext cx="4489704" cy="329184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356616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87768" y="3566160"/>
            <a:ext cx="4032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迷惑メールを自動振り分けする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922008" y="4005072"/>
            <a:ext cx="4489704" cy="4572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/>
        </p:spPr>
      </p:sp>
      <p:sp>
        <p:nvSpPr>
          <p:cNvPr id="34" name="Text 32"/>
          <p:cNvSpPr/>
          <p:nvPr/>
        </p:nvSpPr>
        <p:spPr>
          <a:xfrm>
            <a:off x="7031736" y="4005072"/>
            <a:ext cx="4270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解説：メール本文のリンクは、公式URLと必ず見比べましょう。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20840" y="4471416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※実際の画面イメージです（開発中のUIのため変更となる場合があります）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48640" y="4892040"/>
            <a:ext cx="11064240" cy="1298448"/>
          </a:xfrm>
          <a:prstGeom prst="roundRect">
            <a:avLst>
              <a:gd name="adj" fmla="val 7042"/>
            </a:avLst>
          </a:prstGeom>
          <a:solidFill>
            <a:srgbClr val="EFF6FF"/>
          </a:solidFill>
          <a:ln/>
        </p:spPr>
      </p:sp>
      <p:sp>
        <p:nvSpPr>
          <p:cNvPr id="37" name="Shape 35"/>
          <p:cNvSpPr/>
          <p:nvPr/>
        </p:nvSpPr>
        <p:spPr>
          <a:xfrm>
            <a:off x="749808" y="507492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DBEAFE"/>
          </a:solidFill>
          <a:ln/>
        </p:spPr>
      </p:sp>
      <p:sp>
        <p:nvSpPr>
          <p:cNvPr id="38" name="Text 36"/>
          <p:cNvSpPr/>
          <p:nvPr/>
        </p:nvSpPr>
        <p:spPr>
          <a:xfrm>
            <a:off x="749808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気づきの例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408176" y="5038344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「フィッシングメールの見分け方」の問題に不正解 → 解説で「本文中のリンク先URLは公式ドメインと必ず見比べる」ことを知る → 数日後、実際に届いた不審メールで「あの問題と同じパターンだ」と気づき、リンクを踏まずにIT部門へ報告。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ビズもん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FUNCTION 02 ／ LEARNING HISTORY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454335" y="402336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10454335" y="40233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利用者向け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自分の理解度を、いつでも自分で振り返れる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目的　</a:t>
            </a:r>
            <a:r>
              <a:rPr lang="en-US" sz="120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「わからないままにしない」――自分の弱点に自分で気付き、自律的な学びにつなげる。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8366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できること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57984"/>
            <a:ext cx="5623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回答数・正解数・不正解数・正答率をひと目で確認できる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798064"/>
            <a:ext cx="5623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短期間ではなく全期間の学習履歴をまとめて表示し、いつでも振り返られる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438144"/>
            <a:ext cx="5623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学習領域（大項目）ごとの傾向を確認し、苦手分野を把握できる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720840" y="1371600"/>
            <a:ext cx="489204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85432" y="1463040"/>
            <a:ext cx="310896" cy="310896"/>
          </a:xfrm>
          <a:prstGeom prst="roundRect">
            <a:avLst>
              <a:gd name="adj" fmla="val 35294"/>
            </a:avLst>
          </a:prstGeom>
          <a:solidFill>
            <a:srgbClr val="DBEAFE"/>
          </a:solidFill>
          <a:ln/>
        </p:spPr>
      </p:sp>
      <p:sp>
        <p:nvSpPr>
          <p:cNvPr id="16" name="Text 14"/>
          <p:cNvSpPr/>
          <p:nvPr/>
        </p:nvSpPr>
        <p:spPr>
          <a:xfrm>
            <a:off x="6885432" y="1463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履歴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287768" y="13716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学習履歴・傾向分析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0561320" y="1472184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/>
        </p:spPr>
      </p:sp>
      <p:sp>
        <p:nvSpPr>
          <p:cNvPr id="19" name="Text 17"/>
          <p:cNvSpPr/>
          <p:nvPr/>
        </p:nvSpPr>
        <p:spPr>
          <a:xfrm>
            <a:off x="10561320" y="14721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画面イメージ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85432" y="1883664"/>
            <a:ext cx="456285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38744" y="2011680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8238744" y="20116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全期間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22008" y="2395728"/>
            <a:ext cx="11224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回答数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922008" y="2578608"/>
            <a:ext cx="11224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42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044434" y="2395728"/>
            <a:ext cx="11224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正解数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044434" y="2578608"/>
            <a:ext cx="11224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289286" y="2395728"/>
            <a:ext cx="11224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正答率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289286" y="2578608"/>
            <a:ext cx="11224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83%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9166860" y="2395728"/>
            <a:ext cx="11224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不正解数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9166860" y="2578608"/>
            <a:ext cx="11224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922008" y="30723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情報管理・セキュリティ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844784" y="307238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88%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922008" y="3273552"/>
            <a:ext cx="3849624" cy="91440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/>
        </p:spPr>
      </p:sp>
      <p:sp>
        <p:nvSpPr>
          <p:cNvPr id="36" name="Shape 34"/>
          <p:cNvSpPr/>
          <p:nvPr/>
        </p:nvSpPr>
        <p:spPr>
          <a:xfrm>
            <a:off x="6922008" y="3273552"/>
            <a:ext cx="3387669" cy="914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7" name="Text 35"/>
          <p:cNvSpPr/>
          <p:nvPr/>
        </p:nvSpPr>
        <p:spPr>
          <a:xfrm>
            <a:off x="6922008" y="34381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コミュニケーション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844784" y="343814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91%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922008" y="3639312"/>
            <a:ext cx="3849624" cy="91440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/>
        </p:spPr>
      </p:sp>
      <p:sp>
        <p:nvSpPr>
          <p:cNvPr id="40" name="Shape 38"/>
          <p:cNvSpPr/>
          <p:nvPr/>
        </p:nvSpPr>
        <p:spPr>
          <a:xfrm>
            <a:off x="6922008" y="3639312"/>
            <a:ext cx="3503158" cy="914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41" name="Text 39"/>
          <p:cNvSpPr/>
          <p:nvPr/>
        </p:nvSpPr>
        <p:spPr>
          <a:xfrm>
            <a:off x="6922008" y="38039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法務・コンプライアンス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0844784" y="3785616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/>
        </p:spPr>
      </p:sp>
      <p:sp>
        <p:nvSpPr>
          <p:cNvPr id="43" name="Text 41"/>
          <p:cNvSpPr/>
          <p:nvPr/>
        </p:nvSpPr>
        <p:spPr>
          <a:xfrm>
            <a:off x="10844784" y="37856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A341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苦手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922008" y="4005072"/>
            <a:ext cx="3849624" cy="91440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/>
        </p:spPr>
      </p:sp>
      <p:sp>
        <p:nvSpPr>
          <p:cNvPr id="45" name="Shape 43"/>
          <p:cNvSpPr/>
          <p:nvPr/>
        </p:nvSpPr>
        <p:spPr>
          <a:xfrm>
            <a:off x="6922008" y="4005072"/>
            <a:ext cx="2232782" cy="9144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46" name="Text 44"/>
          <p:cNvSpPr/>
          <p:nvPr/>
        </p:nvSpPr>
        <p:spPr>
          <a:xfrm>
            <a:off x="6720840" y="4471416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※実際の画面イメージです（開発中のUIのため変更となる場合があります）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48640" y="4892040"/>
            <a:ext cx="11064240" cy="1298448"/>
          </a:xfrm>
          <a:prstGeom prst="roundRect">
            <a:avLst>
              <a:gd name="adj" fmla="val 7042"/>
            </a:avLst>
          </a:prstGeom>
          <a:solidFill>
            <a:srgbClr val="EFF6FF"/>
          </a:solidFill>
          <a:ln/>
        </p:spPr>
      </p:sp>
      <p:sp>
        <p:nvSpPr>
          <p:cNvPr id="48" name="Shape 46"/>
          <p:cNvSpPr/>
          <p:nvPr/>
        </p:nvSpPr>
        <p:spPr>
          <a:xfrm>
            <a:off x="749808" y="507492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DBEAFE"/>
          </a:solidFill>
          <a:ln/>
        </p:spPr>
      </p:sp>
      <p:sp>
        <p:nvSpPr>
          <p:cNvPr id="49" name="Text 47"/>
          <p:cNvSpPr/>
          <p:nvPr/>
        </p:nvSpPr>
        <p:spPr>
          <a:xfrm>
            <a:off x="749808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気づきの例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408176" y="5038344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</a:t>
            </a:r>
            <a:r>
              <a:rPr lang="en-US" sz="1250" dirty="0" err="1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法務・コンプライアンス」だけ正答率が低いことに自分で気</a:t>
            </a:r>
            <a:r>
              <a:rPr lang="ja-JP" altLang="en-US" sz="1250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付</a:t>
            </a:r>
            <a:r>
              <a:rPr lang="en-US" sz="1250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く → 意識して契約書まわりの問題を復習するようになる → 実務でも、契約書の確認を“なんとなく”ではなく、根拠を持って行えるようになる。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ビズもん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FUNCTION 03 ／ DASHBOARD &amp; REPORT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454335" y="402336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/>
        </p:spPr>
      </p:sp>
      <p:sp>
        <p:nvSpPr>
          <p:cNvPr id="4" name="Text 2"/>
          <p:cNvSpPr/>
          <p:nvPr/>
        </p:nvSpPr>
        <p:spPr>
          <a:xfrm>
            <a:off x="10454335" y="40233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341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管理者向け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「誰が、どれだけ理解しているか」を組織単位で把握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目的　</a:t>
            </a:r>
            <a:r>
              <a:rPr lang="en-US" sz="120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現場の学習状況を数字で見える化し、次の教育施策や個別フォローにつなげる。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8366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できること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57984"/>
            <a:ext cx="5623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指定期間（初期表示は全期間）の登録人数、回答者数、回答率、正解率を一覧で確認できる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798064"/>
            <a:ext cx="5623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日別の回答推移や、カテゴリー別の正解率をグラフで確認できる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438144"/>
            <a:ext cx="5623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レポート画面では、企業全体の回答データを個票単位で確認し、CSV出力もできる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720840" y="1371600"/>
            <a:ext cx="489204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85432" y="1463040"/>
            <a:ext cx="310896" cy="310896"/>
          </a:xfrm>
          <a:prstGeom prst="roundRect">
            <a:avLst>
              <a:gd name="adj" fmla="val 35294"/>
            </a:avLst>
          </a:prstGeom>
          <a:solidFill>
            <a:srgbClr val="DBEAFE"/>
          </a:solidFill>
          <a:ln/>
        </p:spPr>
      </p:sp>
      <p:sp>
        <p:nvSpPr>
          <p:cNvPr id="16" name="Text 14"/>
          <p:cNvSpPr/>
          <p:nvPr/>
        </p:nvSpPr>
        <p:spPr>
          <a:xfrm>
            <a:off x="6885432" y="1463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DB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287768" y="13716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ダッシュボード（全期間）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0561320" y="1472184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/>
        </p:spPr>
      </p:sp>
      <p:sp>
        <p:nvSpPr>
          <p:cNvPr id="19" name="Text 17"/>
          <p:cNvSpPr/>
          <p:nvPr/>
        </p:nvSpPr>
        <p:spPr>
          <a:xfrm>
            <a:off x="10561320" y="14721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画面イメージ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85432" y="1883664"/>
            <a:ext cx="456285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58584" y="2011680"/>
            <a:ext cx="1423416" cy="548640"/>
          </a:xfrm>
          <a:prstGeom prst="roundRect">
            <a:avLst>
              <a:gd name="adj" fmla="val 10000"/>
            </a:avLst>
          </a:prstGeom>
          <a:solidFill>
            <a:srgbClr val="F5F7FB"/>
          </a:solidFill>
          <a:ln/>
        </p:spPr>
      </p:sp>
      <p:sp>
        <p:nvSpPr>
          <p:cNvPr id="22" name="Text 20"/>
          <p:cNvSpPr/>
          <p:nvPr/>
        </p:nvSpPr>
        <p:spPr>
          <a:xfrm>
            <a:off x="6958584" y="2066544"/>
            <a:ext cx="1350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登録人数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958584" y="2231136"/>
            <a:ext cx="1350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120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455152" y="2011680"/>
            <a:ext cx="1423416" cy="548640"/>
          </a:xfrm>
          <a:prstGeom prst="roundRect">
            <a:avLst>
              <a:gd name="adj" fmla="val 10000"/>
            </a:avLst>
          </a:prstGeom>
          <a:solidFill>
            <a:srgbClr val="F5F7FB"/>
          </a:solidFill>
          <a:ln/>
        </p:spPr>
      </p:sp>
      <p:sp>
        <p:nvSpPr>
          <p:cNvPr id="25" name="Text 23"/>
          <p:cNvSpPr/>
          <p:nvPr/>
        </p:nvSpPr>
        <p:spPr>
          <a:xfrm>
            <a:off x="8455152" y="2066544"/>
            <a:ext cx="1350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回答率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455152" y="2231136"/>
            <a:ext cx="1350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92%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951720" y="2011680"/>
            <a:ext cx="1423416" cy="548640"/>
          </a:xfrm>
          <a:prstGeom prst="roundRect">
            <a:avLst>
              <a:gd name="adj" fmla="val 10000"/>
            </a:avLst>
          </a:prstGeom>
          <a:solidFill>
            <a:srgbClr val="F5F7FB"/>
          </a:solidFill>
          <a:ln/>
        </p:spPr>
      </p:sp>
      <p:sp>
        <p:nvSpPr>
          <p:cNvPr id="28" name="Text 26"/>
          <p:cNvSpPr/>
          <p:nvPr/>
        </p:nvSpPr>
        <p:spPr>
          <a:xfrm>
            <a:off x="9951720" y="2066544"/>
            <a:ext cx="1350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正解率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951720" y="2231136"/>
            <a:ext cx="1350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78%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22008" y="2633472"/>
            <a:ext cx="4489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日別の回答推移（直近7日）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922008" y="2961212"/>
            <a:ext cx="594360" cy="120316"/>
          </a:xfrm>
          <a:prstGeom prst="roundRect">
            <a:avLst>
              <a:gd name="adj" fmla="val 8000"/>
            </a:avLst>
          </a:prstGeom>
          <a:solidFill>
            <a:srgbClr val="BFDBFE"/>
          </a:solidFill>
          <a:ln/>
        </p:spPr>
      </p:sp>
      <p:sp>
        <p:nvSpPr>
          <p:cNvPr id="32" name="Shape 30"/>
          <p:cNvSpPr/>
          <p:nvPr/>
        </p:nvSpPr>
        <p:spPr>
          <a:xfrm>
            <a:off x="7571232" y="2925117"/>
            <a:ext cx="594360" cy="156411"/>
          </a:xfrm>
          <a:prstGeom prst="roundRect">
            <a:avLst>
              <a:gd name="adj" fmla="val 6154"/>
            </a:avLst>
          </a:prstGeom>
          <a:solidFill>
            <a:srgbClr val="BFDBFE"/>
          </a:solidFill>
          <a:ln/>
        </p:spPr>
      </p:sp>
      <p:sp>
        <p:nvSpPr>
          <p:cNvPr id="33" name="Shape 31"/>
          <p:cNvSpPr/>
          <p:nvPr/>
        </p:nvSpPr>
        <p:spPr>
          <a:xfrm>
            <a:off x="8220456" y="2889023"/>
            <a:ext cx="594360" cy="192505"/>
          </a:xfrm>
          <a:prstGeom prst="roundRect">
            <a:avLst>
              <a:gd name="adj" fmla="val 5000"/>
            </a:avLst>
          </a:prstGeom>
          <a:solidFill>
            <a:srgbClr val="BFDBFE"/>
          </a:solidFill>
          <a:ln/>
        </p:spPr>
      </p:sp>
      <p:sp>
        <p:nvSpPr>
          <p:cNvPr id="34" name="Shape 32"/>
          <p:cNvSpPr/>
          <p:nvPr/>
        </p:nvSpPr>
        <p:spPr>
          <a:xfrm>
            <a:off x="8869680" y="2949181"/>
            <a:ext cx="594360" cy="132347"/>
          </a:xfrm>
          <a:prstGeom prst="roundRect">
            <a:avLst>
              <a:gd name="adj" fmla="val 7273"/>
            </a:avLst>
          </a:prstGeom>
          <a:solidFill>
            <a:srgbClr val="BFDBFE"/>
          </a:solidFill>
          <a:ln/>
        </p:spPr>
      </p:sp>
      <p:sp>
        <p:nvSpPr>
          <p:cNvPr id="35" name="Shape 33"/>
          <p:cNvSpPr/>
          <p:nvPr/>
        </p:nvSpPr>
        <p:spPr>
          <a:xfrm>
            <a:off x="9518904" y="2864960"/>
            <a:ext cx="594360" cy="216568"/>
          </a:xfrm>
          <a:prstGeom prst="roundRect">
            <a:avLst>
              <a:gd name="adj" fmla="val 4444"/>
            </a:avLst>
          </a:prstGeom>
          <a:solidFill>
            <a:srgbClr val="BFDBFE"/>
          </a:solidFill>
          <a:ln/>
        </p:spPr>
      </p:sp>
      <p:sp>
        <p:nvSpPr>
          <p:cNvPr id="36" name="Shape 34"/>
          <p:cNvSpPr/>
          <p:nvPr/>
        </p:nvSpPr>
        <p:spPr>
          <a:xfrm>
            <a:off x="10168128" y="2913086"/>
            <a:ext cx="594360" cy="168442"/>
          </a:xfrm>
          <a:prstGeom prst="roundRect">
            <a:avLst>
              <a:gd name="adj" fmla="val 5714"/>
            </a:avLst>
          </a:prstGeom>
          <a:solidFill>
            <a:srgbClr val="BFDBFE"/>
          </a:solidFill>
          <a:ln/>
        </p:spPr>
      </p:sp>
      <p:sp>
        <p:nvSpPr>
          <p:cNvPr id="37" name="Shape 35"/>
          <p:cNvSpPr/>
          <p:nvPr/>
        </p:nvSpPr>
        <p:spPr>
          <a:xfrm>
            <a:off x="10817352" y="2852928"/>
            <a:ext cx="594360" cy="228600"/>
          </a:xfrm>
          <a:prstGeom prst="roundRect">
            <a:avLst>
              <a:gd name="adj" fmla="val 4211"/>
            </a:avLst>
          </a:prstGeom>
          <a:solidFill>
            <a:srgbClr val="1D4ED8"/>
          </a:solidFill>
          <a:ln/>
        </p:spPr>
      </p:sp>
      <p:sp>
        <p:nvSpPr>
          <p:cNvPr id="51" name="Text 49"/>
          <p:cNvSpPr/>
          <p:nvPr/>
        </p:nvSpPr>
        <p:spPr>
          <a:xfrm>
            <a:off x="6922008" y="3136392"/>
            <a:ext cx="4489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カテゴリー別正解率</a:t>
            </a:r>
            <a:endParaRPr lang="en-US" sz="800" dirty="0"/>
          </a:p>
        </p:txBody>
      </p:sp>
      <p:sp>
        <p:nvSpPr>
          <p:cNvPr id="52" name="Text 52"/>
          <p:cNvSpPr/>
          <p:nvPr/>
        </p:nvSpPr>
        <p:spPr>
          <a:xfrm>
            <a:off x="6922008" y="33558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情報管理・セキュリティ</a:t>
            </a:r>
            <a:endParaRPr lang="en-US" sz="850" dirty="0"/>
          </a:p>
        </p:txBody>
      </p:sp>
      <p:sp>
        <p:nvSpPr>
          <p:cNvPr id="53" name="Text 53"/>
          <p:cNvSpPr/>
          <p:nvPr/>
        </p:nvSpPr>
        <p:spPr>
          <a:xfrm>
            <a:off x="10844784" y="335584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88%</a:t>
            </a:r>
            <a:endParaRPr lang="en-US" sz="850" dirty="0"/>
          </a:p>
        </p:txBody>
      </p:sp>
      <p:sp>
        <p:nvSpPr>
          <p:cNvPr id="54" name="Shape 54"/>
          <p:cNvSpPr/>
          <p:nvPr/>
        </p:nvSpPr>
        <p:spPr>
          <a:xfrm>
            <a:off x="6922008" y="3557016"/>
            <a:ext cx="3849624" cy="91440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/>
        </p:spPr>
      </p:sp>
      <p:sp>
        <p:nvSpPr>
          <p:cNvPr id="55" name="Shape 55"/>
          <p:cNvSpPr/>
          <p:nvPr/>
        </p:nvSpPr>
        <p:spPr>
          <a:xfrm>
            <a:off x="6922008" y="3557016"/>
            <a:ext cx="3387669" cy="914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56" name="Text 56"/>
          <p:cNvSpPr/>
          <p:nvPr/>
        </p:nvSpPr>
        <p:spPr>
          <a:xfrm>
            <a:off x="6922008" y="3703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ハラスメント</a:t>
            </a:r>
            <a:endParaRPr lang="en-US" sz="850" dirty="0"/>
          </a:p>
        </p:txBody>
      </p:sp>
      <p:sp>
        <p:nvSpPr>
          <p:cNvPr id="57" name="Text 57"/>
          <p:cNvSpPr/>
          <p:nvPr/>
        </p:nvSpPr>
        <p:spPr>
          <a:xfrm>
            <a:off x="10844784" y="370332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A341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61%</a:t>
            </a:r>
            <a:endParaRPr lang="en-US" sz="850" dirty="0"/>
          </a:p>
        </p:txBody>
      </p:sp>
      <p:sp>
        <p:nvSpPr>
          <p:cNvPr id="58" name="Shape 58"/>
          <p:cNvSpPr/>
          <p:nvPr/>
        </p:nvSpPr>
        <p:spPr>
          <a:xfrm>
            <a:off x="6922008" y="3904488"/>
            <a:ext cx="3849624" cy="91440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/>
        </p:spPr>
      </p:sp>
      <p:sp>
        <p:nvSpPr>
          <p:cNvPr id="59" name="Shape 59"/>
          <p:cNvSpPr/>
          <p:nvPr/>
        </p:nvSpPr>
        <p:spPr>
          <a:xfrm>
            <a:off x="6922008" y="3904488"/>
            <a:ext cx="2348271" cy="9144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40" name="Shape 38"/>
          <p:cNvSpPr/>
          <p:nvPr/>
        </p:nvSpPr>
        <p:spPr>
          <a:xfrm>
            <a:off x="6922008" y="4050792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/>
        </p:spPr>
      </p:sp>
      <p:sp>
        <p:nvSpPr>
          <p:cNvPr id="41" name="Text 39"/>
          <p:cNvSpPr/>
          <p:nvPr/>
        </p:nvSpPr>
        <p:spPr>
          <a:xfrm>
            <a:off x="6922008" y="40507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91C1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未実施者 8名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8385048" y="4050792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43" name="Text 41"/>
          <p:cNvSpPr/>
          <p:nvPr/>
        </p:nvSpPr>
        <p:spPr>
          <a:xfrm>
            <a:off x="8385048" y="40507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CSV出力可能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720840" y="4471416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※実際の画面イメージです（開発中のUIのため変更となる場合があります）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48640" y="4892040"/>
            <a:ext cx="11064240" cy="1298448"/>
          </a:xfrm>
          <a:prstGeom prst="roundRect">
            <a:avLst>
              <a:gd name="adj" fmla="val 7042"/>
            </a:avLst>
          </a:prstGeom>
          <a:solidFill>
            <a:srgbClr val="FFF7ED"/>
          </a:solidFill>
          <a:ln/>
        </p:spPr>
      </p:sp>
      <p:sp>
        <p:nvSpPr>
          <p:cNvPr id="46" name="Shape 44"/>
          <p:cNvSpPr/>
          <p:nvPr/>
        </p:nvSpPr>
        <p:spPr>
          <a:xfrm>
            <a:off x="749808" y="507492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FEDD5"/>
          </a:solidFill>
          <a:ln/>
        </p:spPr>
      </p:sp>
      <p:sp>
        <p:nvSpPr>
          <p:cNvPr id="47" name="Text 45"/>
          <p:cNvSpPr/>
          <p:nvPr/>
        </p:nvSpPr>
        <p:spPr>
          <a:xfrm>
            <a:off x="749808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9A341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気づきの例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408176" y="5038344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カテゴリー別正解率を見ると「ハラスメント」の正答率だけ低いと分かる → 「知識だけでなく実際の対応力にも不安があるのでは」という仮説が生まれる → 次のクォーターの研修テーマを「ハラスメント対応の実践ロールプレイ」に決定。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ビズもん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FUNCTION 04 ／ CATEGORY SETTINGS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454335" y="402336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/>
        </p:spPr>
      </p:sp>
      <p:sp>
        <p:nvSpPr>
          <p:cNvPr id="4" name="Text 2"/>
          <p:cNvSpPr/>
          <p:nvPr/>
        </p:nvSpPr>
        <p:spPr>
          <a:xfrm>
            <a:off x="10454335" y="40233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341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管理者向け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23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自社に必要な分野のクイズを選択、追加できる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 err="1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目的</a:t>
            </a:r>
            <a:r>
              <a:rPr lang="en-US" sz="12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</a:t>
            </a:r>
            <a:r>
              <a:rPr lang="en-US" sz="1200" dirty="0" err="1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一律ではなく、自社の実情に合わせて出題内容をコントロールできるようにする</a:t>
            </a:r>
            <a:r>
              <a:rPr lang="en-US" sz="120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8366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できること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57984"/>
            <a:ext cx="5623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全21分野の中から、自社に必要な出題カテゴリーを選んで設定できる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798064"/>
            <a:ext cx="5623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設定を変更すると、翌日のクイズから反映される。変更履歴もいつでも確認できる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438144"/>
            <a:ext cx="5623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自社専用の問題（自社理解カテゴリー）を追加すれば、専用クイズも運用できる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720840" y="1371600"/>
            <a:ext cx="489204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85432" y="1463040"/>
            <a:ext cx="310896" cy="310896"/>
          </a:xfrm>
          <a:prstGeom prst="roundRect">
            <a:avLst>
              <a:gd name="adj" fmla="val 35294"/>
            </a:avLst>
          </a:prstGeom>
          <a:solidFill>
            <a:srgbClr val="DBEAFE"/>
          </a:solidFill>
          <a:ln/>
        </p:spPr>
      </p:sp>
      <p:sp>
        <p:nvSpPr>
          <p:cNvPr id="16" name="Text 14"/>
          <p:cNvSpPr/>
          <p:nvPr/>
        </p:nvSpPr>
        <p:spPr>
          <a:xfrm>
            <a:off x="6885432" y="1463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設定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287768" y="13716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出題カテゴリー設定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0561320" y="1472184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/>
        </p:spPr>
      </p:sp>
      <p:sp>
        <p:nvSpPr>
          <p:cNvPr id="19" name="Text 17"/>
          <p:cNvSpPr/>
          <p:nvPr/>
        </p:nvSpPr>
        <p:spPr>
          <a:xfrm>
            <a:off x="10561320" y="14721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画面イメージ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85432" y="1883664"/>
            <a:ext cx="456285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22008" y="2011680"/>
            <a:ext cx="4489704" cy="329184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7013448" y="2011680"/>
            <a:ext cx="3575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法務・コンプライアンス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954512" y="2075688"/>
            <a:ext cx="384048" cy="20116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4" name="Shape 22"/>
          <p:cNvSpPr/>
          <p:nvPr/>
        </p:nvSpPr>
        <p:spPr>
          <a:xfrm>
            <a:off x="11137392" y="2075688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922008" y="2395728"/>
            <a:ext cx="4489704" cy="329184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</p:spPr>
      </p:sp>
      <p:sp>
        <p:nvSpPr>
          <p:cNvPr id="26" name="Text 24"/>
          <p:cNvSpPr/>
          <p:nvPr/>
        </p:nvSpPr>
        <p:spPr>
          <a:xfrm>
            <a:off x="7013448" y="2395728"/>
            <a:ext cx="3575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情報管理・セキュリティ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954512" y="2459736"/>
            <a:ext cx="384048" cy="20116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8" name="Shape 26"/>
          <p:cNvSpPr/>
          <p:nvPr/>
        </p:nvSpPr>
        <p:spPr>
          <a:xfrm>
            <a:off x="11137392" y="2459736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922008" y="2779776"/>
            <a:ext cx="4489704" cy="329184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</p:spPr>
      </p:sp>
      <p:sp>
        <p:nvSpPr>
          <p:cNvPr id="30" name="Text 28"/>
          <p:cNvSpPr/>
          <p:nvPr/>
        </p:nvSpPr>
        <p:spPr>
          <a:xfrm>
            <a:off x="7013448" y="2779776"/>
            <a:ext cx="3575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IT・デジタル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0954512" y="2843784"/>
            <a:ext cx="384048" cy="20116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32" name="Shape 30"/>
          <p:cNvSpPr/>
          <p:nvPr/>
        </p:nvSpPr>
        <p:spPr>
          <a:xfrm>
            <a:off x="10954512" y="2843784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6922008" y="3163824"/>
            <a:ext cx="4489704" cy="329184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</p:spPr>
      </p:sp>
      <p:sp>
        <p:nvSpPr>
          <p:cNvPr id="34" name="Text 32"/>
          <p:cNvSpPr/>
          <p:nvPr/>
        </p:nvSpPr>
        <p:spPr>
          <a:xfrm>
            <a:off x="7013448" y="3163824"/>
            <a:ext cx="3575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心理・行動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0954512" y="3227832"/>
            <a:ext cx="384048" cy="20116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36" name="Shape 34"/>
          <p:cNvSpPr/>
          <p:nvPr/>
        </p:nvSpPr>
        <p:spPr>
          <a:xfrm>
            <a:off x="10954512" y="3227832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6922008" y="3547872"/>
            <a:ext cx="4489704" cy="329184"/>
          </a:xfrm>
          <a:prstGeom prst="roundRect">
            <a:avLst>
              <a:gd name="adj" fmla="val 16667"/>
            </a:avLst>
          </a:prstGeom>
          <a:solidFill>
            <a:srgbClr val="FFEDD5"/>
          </a:solidFill>
          <a:ln/>
        </p:spPr>
      </p:sp>
      <p:sp>
        <p:nvSpPr>
          <p:cNvPr id="38" name="Text 36"/>
          <p:cNvSpPr/>
          <p:nvPr/>
        </p:nvSpPr>
        <p:spPr>
          <a:xfrm>
            <a:off x="7013448" y="3547872"/>
            <a:ext cx="3575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A341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自社理解（自社専用）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515600" y="3602736"/>
            <a:ext cx="365760" cy="219456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40" name="Text 38"/>
          <p:cNvSpPr/>
          <p:nvPr/>
        </p:nvSpPr>
        <p:spPr>
          <a:xfrm>
            <a:off x="10515600" y="360273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NEW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0954512" y="3611880"/>
            <a:ext cx="384048" cy="20116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42" name="Shape 40"/>
          <p:cNvSpPr/>
          <p:nvPr/>
        </p:nvSpPr>
        <p:spPr>
          <a:xfrm>
            <a:off x="11137392" y="3611880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6922008" y="3986784"/>
            <a:ext cx="4489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※設定を変更すると、翌日のクイズから反映されます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720840" y="4471416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※実際の画面イメージです（開発中のUIのため変更となる場合があります）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48640" y="4892040"/>
            <a:ext cx="11064240" cy="1298448"/>
          </a:xfrm>
          <a:prstGeom prst="roundRect">
            <a:avLst>
              <a:gd name="adj" fmla="val 7042"/>
            </a:avLst>
          </a:prstGeom>
          <a:solidFill>
            <a:srgbClr val="FFF7ED"/>
          </a:solidFill>
          <a:ln/>
        </p:spPr>
      </p:sp>
      <p:sp>
        <p:nvSpPr>
          <p:cNvPr id="46" name="Shape 44"/>
          <p:cNvSpPr/>
          <p:nvPr/>
        </p:nvSpPr>
        <p:spPr>
          <a:xfrm>
            <a:off x="749808" y="507492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FEDD5"/>
          </a:solidFill>
          <a:ln/>
        </p:spPr>
      </p:sp>
      <p:sp>
        <p:nvSpPr>
          <p:cNvPr id="47" name="Text 45"/>
          <p:cNvSpPr/>
          <p:nvPr/>
        </p:nvSpPr>
        <p:spPr>
          <a:xfrm>
            <a:off x="749808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9A341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気づきの例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408176" y="5038344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現場から「過去のヒヤリハット事例が共有されていない」という声があがる → 実際にあった事例を「自社理解」カテゴリーの問題として追加 → 全社員が同じ事例を“自分ごと”として学び、同様のミスの再発防止につながる。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ビズもん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FUNCTION 05 ／ USER MANAGEMENT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454335" y="402336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/>
        </p:spPr>
      </p:sp>
      <p:sp>
        <p:nvSpPr>
          <p:cNvPr id="4" name="Text 2"/>
          <p:cNvSpPr/>
          <p:nvPr/>
        </p:nvSpPr>
        <p:spPr>
          <a:xfrm>
            <a:off x="10454335" y="40233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341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管理者向け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入退社・異動があっても、手間をかけずに運用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目的　</a:t>
            </a:r>
            <a:r>
              <a:rPr lang="en-US" sz="120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人の出入りが多い組織でも、正確な名簿とデータの整合性を保ったまま運用を続けられるようにする。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8366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できること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57984"/>
            <a:ext cx="5623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個別招待、またはCSVによる一括招待に対応（社員コード・部署・役職・権限などを登録）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798064"/>
            <a:ext cx="5623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 err="1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招待された</a:t>
            </a:r>
            <a:r>
              <a:rPr lang="ja-JP" altLang="en-US" sz="115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社員</a:t>
            </a:r>
            <a:r>
              <a:rPr lang="en-US" sz="1150" dirty="0" err="1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本人が初回登録を行うと、正式なアカウントとして本登録される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438144"/>
            <a:ext cx="5623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退職者・異動者は完全削除ではなく無効化で管理し、データの整合性を保持する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720840" y="1371600"/>
            <a:ext cx="489204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85432" y="1463040"/>
            <a:ext cx="310896" cy="310896"/>
          </a:xfrm>
          <a:prstGeom prst="roundRect">
            <a:avLst>
              <a:gd name="adj" fmla="val 35294"/>
            </a:avLst>
          </a:prstGeom>
          <a:solidFill>
            <a:srgbClr val="DBEAFE"/>
          </a:solidFill>
          <a:ln/>
        </p:spPr>
      </p:sp>
      <p:sp>
        <p:nvSpPr>
          <p:cNvPr id="16" name="Text 14"/>
          <p:cNvSpPr/>
          <p:nvPr/>
        </p:nvSpPr>
        <p:spPr>
          <a:xfrm>
            <a:off x="6885432" y="1463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名簿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287768" y="13716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ユーザー招待・管理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0561320" y="1472184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/>
        </p:spPr>
      </p:sp>
      <p:sp>
        <p:nvSpPr>
          <p:cNvPr id="19" name="Text 17"/>
          <p:cNvSpPr/>
          <p:nvPr/>
        </p:nvSpPr>
        <p:spPr>
          <a:xfrm>
            <a:off x="10561320" y="14721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画面イメージ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85432" y="1883664"/>
            <a:ext cx="456285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22008" y="2011680"/>
            <a:ext cx="12571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社員コード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179125" y="2011680"/>
            <a:ext cx="17958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氏名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975007" y="2011680"/>
            <a:ext cx="14367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状態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922008" y="2231136"/>
            <a:ext cx="4489704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22008" y="2304288"/>
            <a:ext cx="12571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E001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179125" y="2304288"/>
            <a:ext cx="1795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田中 花子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975007" y="2322576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28" name="Text 26"/>
          <p:cNvSpPr/>
          <p:nvPr/>
        </p:nvSpPr>
        <p:spPr>
          <a:xfrm>
            <a:off x="9975007" y="232257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登録済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922008" y="2633472"/>
            <a:ext cx="12571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E002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179125" y="2633472"/>
            <a:ext cx="1795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佐藤 次郎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975007" y="2651760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32" name="Text 30"/>
          <p:cNvSpPr/>
          <p:nvPr/>
        </p:nvSpPr>
        <p:spPr>
          <a:xfrm>
            <a:off x="9975007" y="265176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招待中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922008" y="2962656"/>
            <a:ext cx="12571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E003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179125" y="2962656"/>
            <a:ext cx="1795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鈴木 一郎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9975007" y="2980944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36" name="Text 34"/>
          <p:cNvSpPr/>
          <p:nvPr/>
        </p:nvSpPr>
        <p:spPr>
          <a:xfrm>
            <a:off x="9975007" y="298094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登録済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922008" y="3291840"/>
            <a:ext cx="12571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E004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179125" y="3291840"/>
            <a:ext cx="1795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高橋 三郎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9975007" y="3310128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40" name="Text 38"/>
          <p:cNvSpPr/>
          <p:nvPr/>
        </p:nvSpPr>
        <p:spPr>
          <a:xfrm>
            <a:off x="9975007" y="331012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対象外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922008" y="3712464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42" name="Text 40"/>
          <p:cNvSpPr/>
          <p:nvPr/>
        </p:nvSpPr>
        <p:spPr>
          <a:xfrm>
            <a:off x="6922008" y="37124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CSVで一括招待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720840" y="4471416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※実際の画面イメージです（開発中のUIのため変更となる場合があります）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48640" y="4892040"/>
            <a:ext cx="11064240" cy="1298448"/>
          </a:xfrm>
          <a:prstGeom prst="roundRect">
            <a:avLst>
              <a:gd name="adj" fmla="val 7042"/>
            </a:avLst>
          </a:prstGeom>
          <a:solidFill>
            <a:srgbClr val="FFF7ED"/>
          </a:solidFill>
          <a:ln/>
        </p:spPr>
      </p:sp>
      <p:sp>
        <p:nvSpPr>
          <p:cNvPr id="45" name="Shape 43"/>
          <p:cNvSpPr/>
          <p:nvPr/>
        </p:nvSpPr>
        <p:spPr>
          <a:xfrm>
            <a:off x="749808" y="507492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FEDD5"/>
          </a:solidFill>
          <a:ln/>
        </p:spPr>
      </p:sp>
      <p:sp>
        <p:nvSpPr>
          <p:cNvPr id="46" name="Text 44"/>
          <p:cNvSpPr/>
          <p:nvPr/>
        </p:nvSpPr>
        <p:spPr>
          <a:xfrm>
            <a:off x="749808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9A341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気づきの例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408176" y="5038344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中途入社者が増える時期は、招待の登録漏れが起きがちだった → CSV一括招待にまとめてヒューマンエラーを削減 → 入社初日から迷わずクイズに参加でき、オンボーディングの一部として自然に定着する。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ビズもん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FUNCTION 06 ／ SETTINGS &amp; EXTRAS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454335" y="402336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10454335" y="40233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利用者向け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続けやすさを支える、細やかな設定と日々の楽しみ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目的　</a:t>
            </a:r>
            <a:r>
              <a:rPr lang="en-US" sz="120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「続けること」自体のハードルを下げ、日々のちょっとした楽しみも届ける。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8366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できること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57984"/>
            <a:ext cx="5623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アカウント設定：メールアドレス・パスワードの変更（本人確認つき）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798064"/>
            <a:ext cx="5623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天気予報表示地域設定：結果画面に表示する地域を指定できる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720840" y="1371600"/>
            <a:ext cx="489204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85432" y="1463040"/>
            <a:ext cx="310896" cy="310896"/>
          </a:xfrm>
          <a:prstGeom prst="roundRect">
            <a:avLst>
              <a:gd name="adj" fmla="val 35294"/>
            </a:avLst>
          </a:prstGeom>
          <a:solidFill>
            <a:srgbClr val="DBEAFE"/>
          </a:solidFill>
          <a:ln/>
        </p:spPr>
      </p:sp>
      <p:sp>
        <p:nvSpPr>
          <p:cNvPr id="16" name="Text 14"/>
          <p:cNvSpPr/>
          <p:nvPr/>
        </p:nvSpPr>
        <p:spPr>
          <a:xfrm>
            <a:off x="6885432" y="1463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設定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287768" y="13716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各種設定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0561320" y="1472184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/>
        </p:spPr>
      </p:sp>
      <p:sp>
        <p:nvSpPr>
          <p:cNvPr id="19" name="Text 17"/>
          <p:cNvSpPr/>
          <p:nvPr/>
        </p:nvSpPr>
        <p:spPr>
          <a:xfrm>
            <a:off x="10561320" y="14721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画面イメージ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85432" y="1883664"/>
            <a:ext cx="456285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20840" y="4471416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※実際の画面イメージです（開発中のUIのため変更となる場合があります）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48640" y="4892040"/>
            <a:ext cx="11064240" cy="1298448"/>
          </a:xfrm>
          <a:prstGeom prst="roundRect">
            <a:avLst>
              <a:gd name="adj" fmla="val 7042"/>
            </a:avLst>
          </a:prstGeom>
          <a:solidFill>
            <a:srgbClr val="EFF6FF"/>
          </a:solidFill>
          <a:ln/>
        </p:spPr>
      </p:sp>
      <p:sp>
        <p:nvSpPr>
          <p:cNvPr id="46" name="Shape 44"/>
          <p:cNvSpPr/>
          <p:nvPr/>
        </p:nvSpPr>
        <p:spPr>
          <a:xfrm>
            <a:off x="749808" y="507492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DBEAFE"/>
          </a:solidFill>
          <a:ln/>
        </p:spPr>
      </p:sp>
      <p:sp>
        <p:nvSpPr>
          <p:cNvPr id="47" name="Text 45"/>
          <p:cNvSpPr/>
          <p:nvPr/>
        </p:nvSpPr>
        <p:spPr>
          <a:xfrm>
            <a:off x="749808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気づきの例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408176" y="5038344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出張の多い営業担当は、出張先の天気が分からず身支度に困ることがあった → 天気予報表示地域を出張先の支店に設定 → 出発前に現地の天気を確認でき、雨具の準備や取引先への一言も自然にできるようになった。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ビズもん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12</a:t>
            </a:r>
            <a:endParaRPr lang="en-US" sz="900" dirty="0"/>
          </a:p>
        </p:txBody>
      </p:sp>
      <p:sp>
        <p:nvSpPr>
          <p:cNvPr id="60" name="Shape 60"/>
          <p:cNvSpPr/>
          <p:nvPr/>
        </p:nvSpPr>
        <p:spPr>
          <a:xfrm>
            <a:off x="6922008" y="2011680"/>
            <a:ext cx="4489704" cy="457200"/>
          </a:xfrm>
          <a:prstGeom prst="roundRect">
            <a:avLst>
              <a:gd name="adj" fmla="val 12000"/>
            </a:avLst>
          </a:prstGeom>
          <a:solidFill>
            <a:srgbClr val="F5F7FB"/>
          </a:solidFill>
          <a:ln/>
        </p:spPr>
      </p:sp>
      <p:sp>
        <p:nvSpPr>
          <p:cNvPr id="61" name="Text 61"/>
          <p:cNvSpPr/>
          <p:nvPr/>
        </p:nvSpPr>
        <p:spPr>
          <a:xfrm>
            <a:off x="7031736" y="2011680"/>
            <a:ext cx="430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アカウント設定：メールアドレス・パスワードの変更</a:t>
            </a:r>
            <a:endParaRPr lang="en-US" sz="950" dirty="0"/>
          </a:p>
        </p:txBody>
      </p:sp>
      <p:sp>
        <p:nvSpPr>
          <p:cNvPr id="62" name="Shape 62"/>
          <p:cNvSpPr/>
          <p:nvPr/>
        </p:nvSpPr>
        <p:spPr>
          <a:xfrm>
            <a:off x="6922008" y="2560320"/>
            <a:ext cx="4489704" cy="457200"/>
          </a:xfrm>
          <a:prstGeom prst="roundRect">
            <a:avLst>
              <a:gd name="adj" fmla="val 12000"/>
            </a:avLst>
          </a:prstGeom>
          <a:solidFill>
            <a:srgbClr val="F5F7FB"/>
          </a:solidFill>
          <a:ln/>
        </p:spPr>
      </p:sp>
      <p:sp>
        <p:nvSpPr>
          <p:cNvPr id="63" name="Text 63"/>
          <p:cNvSpPr/>
          <p:nvPr/>
        </p:nvSpPr>
        <p:spPr>
          <a:xfrm>
            <a:off x="7031736" y="2560320"/>
            <a:ext cx="430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天気予報表示地域：千葉県千葉市</a:t>
            </a:r>
            <a:endParaRPr lang="en-US" sz="950" dirty="0"/>
          </a:p>
        </p:txBody>
      </p:sp>
      <p:sp>
        <p:nvSpPr>
          <p:cNvPr id="64" name="Text 64"/>
          <p:cNvSpPr/>
          <p:nvPr/>
        </p:nvSpPr>
        <p:spPr>
          <a:xfrm>
            <a:off x="6922008" y="3200400"/>
            <a:ext cx="4489704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※メール・パスワードの変更には本人確認（現在のパスワード入力）が必要です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EXTRA VALUE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毎日、ちょっと楽しい仕掛けも。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『ビズもん』の回答画面では、クイズだけでなく天気予報や暦・記念日の情報もあわせてお届け。雑談のきっかけや企画の切り口としても活用いただけます。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1206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3774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天気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3500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天気予報・警報注意報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気象庁データによる今日・明日の天気と、地域の警報・注意報を表示します。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2148840"/>
            <a:ext cx="51206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23774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DBEAFE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暦日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86600" y="23500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今日はこんな日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355080" y="306324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「今日は七夕ですね」――記念日・国際デーの話題が、会話や企画のきっかけになります。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315968"/>
            <a:ext cx="51206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54456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DBEAFE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5445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伝統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451713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六曜・二十四節気・七十二候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77240" y="5230368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大安・仏滅、立春・夏至など、季節と伝統行事にまつわる暦情報を毎日お届けします。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4315968"/>
            <a:ext cx="51206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454456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DBEAFE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45445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祝日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86600" y="451713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祝日・五節句・選日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355080" y="5230368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国民の祝日や桃の節句・七夕、一粒万倍日などの吉日情報もあわせて表示します。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ビズもん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QUIZ DOMAINS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学習領域　―　社会人の全基礎力を網羅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どの職種にも共通する「社会人としての土台」を扱い、全社員が同じ基準・同じ言語で会話できる組織をつくります。導入企業は自社に必要な分野を選択して利用できます。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0" y="1417320"/>
            <a:ext cx="3429000" cy="9144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149047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全21分野・197テーマ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229600" y="190195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BD5E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を標準搭載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3352800" cy="402336"/>
          </a:xfrm>
          <a:prstGeom prst="roundRect">
            <a:avLst>
              <a:gd name="adj" fmla="val 15909"/>
            </a:avLst>
          </a:prstGeom>
          <a:solidFill>
            <a:srgbClr val="F5F7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2514600"/>
            <a:ext cx="307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コミュニケーション・ビジネススキル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67200" y="2514600"/>
            <a:ext cx="3352800" cy="402336"/>
          </a:xfrm>
          <a:prstGeom prst="roundRect">
            <a:avLst>
              <a:gd name="adj" fmla="val 15909"/>
            </a:avLst>
          </a:prstGeom>
          <a:solidFill>
            <a:srgbClr val="F5F7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13504" y="2514600"/>
            <a:ext cx="307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読解力・思考力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85760" y="2514600"/>
            <a:ext cx="3352800" cy="402336"/>
          </a:xfrm>
          <a:prstGeom prst="roundRect">
            <a:avLst>
              <a:gd name="adj" fmla="val 15909"/>
            </a:avLst>
          </a:prstGeom>
          <a:solidFill>
            <a:srgbClr val="F5F7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2064" y="2514600"/>
            <a:ext cx="307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キャリア・自己管理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3352800" cy="402336"/>
          </a:xfrm>
          <a:prstGeom prst="roundRect">
            <a:avLst>
              <a:gd name="adj" fmla="val 15909"/>
            </a:avLst>
          </a:prstGeom>
          <a:solidFill>
            <a:srgbClr val="F5F7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" y="3017520"/>
            <a:ext cx="307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IT・デジタル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67200" y="3017520"/>
            <a:ext cx="3352800" cy="402336"/>
          </a:xfrm>
          <a:prstGeom prst="roundRect">
            <a:avLst>
              <a:gd name="adj" fmla="val 15909"/>
            </a:avLst>
          </a:prstGeom>
          <a:solidFill>
            <a:srgbClr val="F5F7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13504" y="3017520"/>
            <a:ext cx="307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情報管理・セキュリティ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85760" y="3017520"/>
            <a:ext cx="3352800" cy="402336"/>
          </a:xfrm>
          <a:prstGeom prst="roundRect">
            <a:avLst>
              <a:gd name="adj" fmla="val 15909"/>
            </a:avLst>
          </a:prstGeom>
          <a:solidFill>
            <a:srgbClr val="F5F7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2064" y="3017520"/>
            <a:ext cx="307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データ分析・活用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3352800" cy="402336"/>
          </a:xfrm>
          <a:prstGeom prst="roundRect">
            <a:avLst>
              <a:gd name="adj" fmla="val 15909"/>
            </a:avLst>
          </a:prstGeom>
          <a:solidFill>
            <a:srgbClr val="F5F7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" y="3520440"/>
            <a:ext cx="307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プロジェクト管理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67200" y="3520440"/>
            <a:ext cx="3352800" cy="402336"/>
          </a:xfrm>
          <a:prstGeom prst="roundRect">
            <a:avLst>
              <a:gd name="adj" fmla="val 15909"/>
            </a:avLst>
          </a:prstGeom>
          <a:solidFill>
            <a:srgbClr val="F5F7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13504" y="3520440"/>
            <a:ext cx="307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業務改善・品質管理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985760" y="3520440"/>
            <a:ext cx="3352800" cy="402336"/>
          </a:xfrm>
          <a:prstGeom prst="roundRect">
            <a:avLst>
              <a:gd name="adj" fmla="val 15909"/>
            </a:avLst>
          </a:prstGeom>
          <a:solidFill>
            <a:srgbClr val="F5F7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2064" y="3520440"/>
            <a:ext cx="307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経営・戦略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023360"/>
            <a:ext cx="3352800" cy="402336"/>
          </a:xfrm>
          <a:prstGeom prst="roundRect">
            <a:avLst>
              <a:gd name="adj" fmla="val 15909"/>
            </a:avLst>
          </a:prstGeom>
          <a:solidFill>
            <a:srgbClr val="F5F7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" y="4023360"/>
            <a:ext cx="307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顧客理解・マーケティング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67200" y="4023360"/>
            <a:ext cx="3352800" cy="402336"/>
          </a:xfrm>
          <a:prstGeom prst="roundRect">
            <a:avLst>
              <a:gd name="adj" fmla="val 15909"/>
            </a:avLst>
          </a:prstGeom>
          <a:solidFill>
            <a:srgbClr val="F5F7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13504" y="4023360"/>
            <a:ext cx="307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会計・財務・税務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985760" y="4023360"/>
            <a:ext cx="3352800" cy="402336"/>
          </a:xfrm>
          <a:prstGeom prst="roundRect">
            <a:avLst>
              <a:gd name="adj" fmla="val 15909"/>
            </a:avLst>
          </a:prstGeom>
          <a:solidFill>
            <a:srgbClr val="F5F7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2064" y="4023360"/>
            <a:ext cx="307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税金・年末調整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526280"/>
            <a:ext cx="3352800" cy="402336"/>
          </a:xfrm>
          <a:prstGeom prst="roundRect">
            <a:avLst>
              <a:gd name="adj" fmla="val 15909"/>
            </a:avLst>
          </a:prstGeom>
          <a:solidFill>
            <a:srgbClr val="F5F7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" y="4526280"/>
            <a:ext cx="307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社会保険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267200" y="4526280"/>
            <a:ext cx="3352800" cy="402336"/>
          </a:xfrm>
          <a:prstGeom prst="roundRect">
            <a:avLst>
              <a:gd name="adj" fmla="val 15909"/>
            </a:avLst>
          </a:prstGeom>
          <a:solidFill>
            <a:srgbClr val="F5F7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13504" y="4526280"/>
            <a:ext cx="307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勤怠管理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985760" y="4526280"/>
            <a:ext cx="3352800" cy="402336"/>
          </a:xfrm>
          <a:prstGeom prst="roundRect">
            <a:avLst>
              <a:gd name="adj" fmla="val 15909"/>
            </a:avLst>
          </a:prstGeom>
          <a:solidFill>
            <a:srgbClr val="F5F7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32064" y="4526280"/>
            <a:ext cx="307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労務・雇用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5029200"/>
            <a:ext cx="3352800" cy="402336"/>
          </a:xfrm>
          <a:prstGeom prst="roundRect">
            <a:avLst>
              <a:gd name="adj" fmla="val 15909"/>
            </a:avLst>
          </a:prstGeom>
          <a:solidFill>
            <a:srgbClr val="F5F7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4944" y="5029200"/>
            <a:ext cx="307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法務・コンプライアンス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267200" y="5029200"/>
            <a:ext cx="3352800" cy="402336"/>
          </a:xfrm>
          <a:prstGeom prst="roundRect">
            <a:avLst>
              <a:gd name="adj" fmla="val 15909"/>
            </a:avLst>
          </a:prstGeom>
          <a:solidFill>
            <a:srgbClr val="F5F7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13504" y="5029200"/>
            <a:ext cx="307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組織・マネジメント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985760" y="5029200"/>
            <a:ext cx="3352800" cy="402336"/>
          </a:xfrm>
          <a:prstGeom prst="roundRect">
            <a:avLst>
              <a:gd name="adj" fmla="val 15909"/>
            </a:avLst>
          </a:prstGeom>
          <a:solidFill>
            <a:srgbClr val="F5F7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32064" y="5029200"/>
            <a:ext cx="307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リスク管理・危機対応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5532120"/>
            <a:ext cx="3352800" cy="402336"/>
          </a:xfrm>
          <a:prstGeom prst="roundRect">
            <a:avLst>
              <a:gd name="adj" fmla="val 15909"/>
            </a:avLst>
          </a:prstGeom>
          <a:solidFill>
            <a:srgbClr val="F5F7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4944" y="5532120"/>
            <a:ext cx="307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サステナビリティ・ESG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267200" y="5532120"/>
            <a:ext cx="3352800" cy="402336"/>
          </a:xfrm>
          <a:prstGeom prst="roundRect">
            <a:avLst>
              <a:gd name="adj" fmla="val 15909"/>
            </a:avLst>
          </a:prstGeom>
          <a:solidFill>
            <a:srgbClr val="F5F7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13504" y="5532120"/>
            <a:ext cx="307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グローバル・ダイバーシティ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985760" y="5532120"/>
            <a:ext cx="3352800" cy="402336"/>
          </a:xfrm>
          <a:prstGeom prst="roundRect">
            <a:avLst>
              <a:gd name="adj" fmla="val 15909"/>
            </a:avLst>
          </a:prstGeom>
          <a:solidFill>
            <a:srgbClr val="F5F7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32064" y="5532120"/>
            <a:ext cx="307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心理・行動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ビズもん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9731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CUSTOM CATEGORY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『ビズもん』だけのカスタムカテゴリー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160520"/>
          </a:xfrm>
          <a:prstGeom prst="roundRect">
            <a:avLst>
              <a:gd name="adj" fmla="val 2637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0312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自社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理解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65960" y="2057400"/>
            <a:ext cx="9281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A341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「自社理解」カテゴリーで、自社専用の学びも届けられる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965960" y="2697480"/>
            <a:ext cx="9281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7C2D1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標準カテゴリーに加え、自社の就業規則・企業理念・商品/サービス知識・過去のヒヤリハット事例など、“</a:t>
            </a:r>
            <a:r>
              <a:rPr lang="en-US" sz="1350" dirty="0" err="1">
                <a:solidFill>
                  <a:srgbClr val="7C2D1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その会社でしか通用しない”知識を、自社専用の問題として出題できます。これにより</a:t>
            </a:r>
            <a:r>
              <a:rPr lang="en-US" sz="1350" dirty="0">
                <a:solidFill>
                  <a:srgbClr val="7C2D1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、</a:t>
            </a:r>
            <a:r>
              <a:rPr lang="en-US" altLang="ja-JP" sz="1350" dirty="0">
                <a:solidFill>
                  <a:srgbClr val="7C2D1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『</a:t>
            </a:r>
            <a:r>
              <a:rPr lang="en-US" sz="1350" dirty="0" err="1">
                <a:solidFill>
                  <a:srgbClr val="7C2D1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ビズもん</a:t>
            </a:r>
            <a:r>
              <a:rPr lang="en-US" altLang="ja-JP" sz="1350" dirty="0" err="1">
                <a:solidFill>
                  <a:srgbClr val="7C2D1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』</a:t>
            </a:r>
            <a:r>
              <a:rPr lang="en-US" sz="1350" dirty="0" err="1">
                <a:solidFill>
                  <a:srgbClr val="7C2D1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は単なる汎用の教育コンテンツにとどまらず</a:t>
            </a:r>
            <a:r>
              <a:rPr lang="en-US" sz="1350" dirty="0">
                <a:solidFill>
                  <a:srgbClr val="7C2D1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、“自社に最適化されたコンプライアンス・教育インフラ”として機能します。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965960" y="4297680"/>
            <a:ext cx="44348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44348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A341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“世間相場”としての基礎力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194560" y="480060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全21分野・197テーマの標準カテゴリーで、どの会社に行っても通用する社会人基礎力を標準化。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675120" y="4297680"/>
            <a:ext cx="44348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903720" y="44348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A341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“自社ならでは”の理解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903720" y="480060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自社の行動指針の理解確認、部署ルールの周知徹底、過去のトラブル事例のクイズ化など柔軟に活用。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ビズもん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CHANGES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1日1問の積み重ねが、組織の基礎体力を底上げする。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1E3A8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87452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社員に起きる変化</a:t>
            </a:r>
            <a:endParaRPr lang="en-US" sz="1550" dirty="0">
              <a:solidFill>
                <a:srgbClr val="FFFF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04672" y="2377440"/>
            <a:ext cx="3008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「なるほど」「意識していなかった」という気付きが生まれ、自律的に動く力が育ちます。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25112" y="16916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1E3A8A"/>
          </a:solidFill>
          <a:ln/>
        </p:spPr>
      </p:sp>
      <p:sp>
        <p:nvSpPr>
          <p:cNvPr id="8" name="Text 6"/>
          <p:cNvSpPr/>
          <p:nvPr/>
        </p:nvSpPr>
        <p:spPr>
          <a:xfrm>
            <a:off x="4581144" y="187452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チームに起きる変化</a:t>
            </a:r>
            <a:endParaRPr lang="en-US" sz="1550" dirty="0">
              <a:solidFill>
                <a:srgbClr val="FFFF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581144" y="2377440"/>
            <a:ext cx="3008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報連相や認識合わせがしやすくなり、コミュニケーションロスが減ります。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01584" y="16916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1E3A8A"/>
          </a:solidFill>
          <a:ln/>
        </p:spPr>
      </p:sp>
      <p:sp>
        <p:nvSpPr>
          <p:cNvPr id="11" name="Text 9"/>
          <p:cNvSpPr/>
          <p:nvPr/>
        </p:nvSpPr>
        <p:spPr>
          <a:xfrm>
            <a:off x="8357616" y="187452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組織に起きる変化</a:t>
            </a:r>
            <a:endParaRPr lang="en-US" sz="1550" dirty="0">
              <a:solidFill>
                <a:srgbClr val="FFFF0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8357616" y="2377440"/>
            <a:ext cx="3008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判断基準が揃い、内部統制やリスクの未然防止につながります。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3794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教育・人事ご担当者様にとってのメリット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2633472" cy="1508760"/>
          </a:xfrm>
          <a:prstGeom prst="roundRect">
            <a:avLst>
              <a:gd name="adj" fmla="val 4848"/>
            </a:avLst>
          </a:prstGeom>
          <a:solidFill>
            <a:srgbClr val="1E3A8A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4251960"/>
            <a:ext cx="230428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 err="1">
                <a:solidFill>
                  <a:srgbClr val="E2E8F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導入・運用の負荷が小さい</a:t>
            </a:r>
            <a:r>
              <a:rPr lang="en-US" sz="1100" dirty="0">
                <a:solidFill>
                  <a:srgbClr val="E2E8F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：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ja-JP" sz="1100" dirty="0">
                <a:solidFill>
                  <a:srgbClr val="E2E8F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r>
              <a:rPr lang="ja-JP" altLang="en-US" sz="1100" dirty="0">
                <a:solidFill>
                  <a:srgbClr val="E2E8F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日１問で社員負荷も最小限に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19272" y="4251960"/>
            <a:ext cx="2633472" cy="1508760"/>
          </a:xfrm>
          <a:prstGeom prst="roundRect">
            <a:avLst>
              <a:gd name="adj" fmla="val 4848"/>
            </a:avLst>
          </a:prstGeom>
          <a:solidFill>
            <a:srgbClr val="1E3A8A"/>
          </a:solidFill>
          <a:ln/>
        </p:spPr>
      </p:sp>
      <p:sp>
        <p:nvSpPr>
          <p:cNvPr id="17" name="Text 15"/>
          <p:cNvSpPr/>
          <p:nvPr/>
        </p:nvSpPr>
        <p:spPr>
          <a:xfrm>
            <a:off x="3483864" y="4251960"/>
            <a:ext cx="230428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 err="1">
                <a:solidFill>
                  <a:srgbClr val="E2E8F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効果が見えやすい</a:t>
            </a:r>
            <a:r>
              <a:rPr lang="en-US" sz="1100" dirty="0">
                <a:solidFill>
                  <a:srgbClr val="E2E8F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：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 err="1">
                <a:solidFill>
                  <a:srgbClr val="E2E8F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受講状況・正答率をデータで可視化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9904" y="4251960"/>
            <a:ext cx="2633472" cy="1508760"/>
          </a:xfrm>
          <a:prstGeom prst="roundRect">
            <a:avLst>
              <a:gd name="adj" fmla="val 4848"/>
            </a:avLst>
          </a:prstGeom>
          <a:solidFill>
            <a:srgbClr val="1E3A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54496" y="4251960"/>
            <a:ext cx="230428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 err="1">
                <a:solidFill>
                  <a:srgbClr val="E2E8F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低コストで全社展開</a:t>
            </a:r>
            <a:r>
              <a:rPr lang="en-US" sz="1100" dirty="0">
                <a:solidFill>
                  <a:srgbClr val="E2E8F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：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 err="1">
                <a:solidFill>
                  <a:srgbClr val="E2E8F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新入社員からベテランまで同じ基準を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860536" y="4251960"/>
            <a:ext cx="2633472" cy="1508760"/>
          </a:xfrm>
          <a:prstGeom prst="roundRect">
            <a:avLst>
              <a:gd name="adj" fmla="val 4848"/>
            </a:avLst>
          </a:prstGeom>
          <a:solidFill>
            <a:srgbClr val="1E3A8A"/>
          </a:solidFill>
          <a:ln/>
        </p:spPr>
      </p:sp>
      <p:sp>
        <p:nvSpPr>
          <p:cNvPr id="21" name="Text 19"/>
          <p:cNvSpPr/>
          <p:nvPr/>
        </p:nvSpPr>
        <p:spPr>
          <a:xfrm>
            <a:off x="9025128" y="4251960"/>
            <a:ext cx="230428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 err="1">
                <a:solidFill>
                  <a:srgbClr val="E2E8F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自社に合わせてカスタマイズ</a:t>
            </a:r>
            <a:r>
              <a:rPr lang="en-US" sz="1100" dirty="0">
                <a:solidFill>
                  <a:srgbClr val="E2E8F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：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 err="1">
                <a:solidFill>
                  <a:srgbClr val="E2E8F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自社独自の出題も追加可能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ビズもん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PRICE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料金プラン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ご利用人数に応じたシンプルな料金体系です。基本機能はすべての規模で共通してご利用いただけます。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737360" y="2057400"/>
            <a:ext cx="868680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381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0" y="2057400"/>
            <a:ext cx="2926080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〜100名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394960" y="2057400"/>
            <a:ext cx="4572000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1D4ED8"/>
                </a:solidFill>
              </a:rPr>
              <a:t>月額 20,000 円</a:t>
            </a:r>
            <a:r>
              <a:rPr lang="en-US" sz="1100" dirty="0">
                <a:solidFill>
                  <a:srgbClr val="64748B"/>
                </a:solidFill>
              </a:rPr>
              <a:t>  （税別）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011680" y="2868930"/>
            <a:ext cx="8138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2868930"/>
            <a:ext cx="2926080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101〜200名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394960" y="2868930"/>
            <a:ext cx="4572000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1D4ED8"/>
                </a:solidFill>
              </a:rPr>
              <a:t>月額 40,000 円</a:t>
            </a:r>
            <a:r>
              <a:rPr lang="en-US" sz="1100" dirty="0">
                <a:solidFill>
                  <a:srgbClr val="64748B"/>
                </a:solidFill>
              </a:rPr>
              <a:t>  （税別）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2011680" y="3680460"/>
            <a:ext cx="8138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3680460"/>
            <a:ext cx="2926080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201〜300名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394960" y="3680460"/>
            <a:ext cx="4572000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1D4ED8"/>
                </a:solidFill>
              </a:rPr>
              <a:t>月額 60,000 円</a:t>
            </a:r>
            <a:r>
              <a:rPr lang="en-US" sz="1100" dirty="0">
                <a:solidFill>
                  <a:srgbClr val="64748B"/>
                </a:solidFill>
              </a:rPr>
              <a:t>  （税別）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2011680" y="4491990"/>
            <a:ext cx="8138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4491990"/>
            <a:ext cx="2926080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301名〜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394960" y="4491990"/>
            <a:ext cx="4572000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お問い合わせください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55321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基本機能（日次クイズ／回答履歴／ダッシュボード／レポート／ユーザー招待・管理　など）は、すべてのプランで共通です。301名以上のご利用や、特別な運用要件がある場合は、お問い合わせフォームより個別にご相談ください。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ビズもん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OPTIONS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オプションサービス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基本の料金プランに加えて、導入支援からカスタマイズ、データ活用まで、必要に応じて選べるオプションをご用意しています。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167128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0E7FF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167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設定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274320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導入支援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9808" y="3063240"/>
            <a:ext cx="3026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初期設定代行。ユーザー登録やカテゴリー設定など、導入時の初期設定をまとめて代行します。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3547872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50,000円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97096" y="196596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98264" y="2167128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0E7FF"/>
          </a:solidFill>
          <a:ln/>
        </p:spPr>
      </p:sp>
      <p:sp>
        <p:nvSpPr>
          <p:cNvPr id="13" name="Text 11"/>
          <p:cNvSpPr/>
          <p:nvPr/>
        </p:nvSpPr>
        <p:spPr>
          <a:xfrm>
            <a:off x="4398264" y="2167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作成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398264" y="274320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自社専用クイズ作成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398264" y="3063240"/>
            <a:ext cx="3026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ヒアリング・構成・問題作成・校正まで、自社専用問題の作成を丸ごと代行します。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98264" y="3547872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50,000円〜（応相談）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845552" y="196596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0" y="2167128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0E7FF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2167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追加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046720" y="274320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自社専用クイズ追加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046720" y="3063240"/>
            <a:ext cx="3026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作成済みの自社専用問題を「自社理解」カテゴリーへアップロードします。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46720" y="3547872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10,000円／回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187952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9808" y="438912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0E7FF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4389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分析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49808" y="4965192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データ分析サービス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49808" y="5285232"/>
            <a:ext cx="3026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個人別・部署別ランキング作成、他社比較など、学習データを活用した分析を提供します。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9808" y="5769864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50,000円〜（応相談）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197096" y="4187952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98264" y="438912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0E7FF"/>
          </a:solidFill>
          <a:ln/>
        </p:spPr>
      </p:sp>
      <p:sp>
        <p:nvSpPr>
          <p:cNvPr id="31" name="Text 29"/>
          <p:cNvSpPr/>
          <p:nvPr/>
        </p:nvSpPr>
        <p:spPr>
          <a:xfrm>
            <a:off x="4398264" y="4389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提案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398264" y="4965192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教育訓練施策の提案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398264" y="5285232"/>
            <a:ext cx="3026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学習データをもとに、次の教育・研修施策のご提案を継続的に行います。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398264" y="5769864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50,000円〜（応相談）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48640" y="61722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オプションの詳細やお見積りは、お問い合わせフォームよりお気軽にご相談ください。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ビズもん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導入までの流れ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お問い合わせから利用開始まで、シンプルなステップで進められます。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606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お問い合わせ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ja-JP" altLang="en-US" sz="110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お問い合わせフォーム</a:t>
            </a:r>
            <a:r>
              <a:rPr lang="en-US" sz="1100" dirty="0" err="1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より導入相談・申込をお送りください</a:t>
            </a:r>
            <a:r>
              <a:rPr lang="en-US" sz="110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54680" y="2377440"/>
            <a:ext cx="411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BD5E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566160" y="237744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66160" y="2606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 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03320" y="30175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ご相談・お見積り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49040" y="36118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ja-JP" altLang="en-US" sz="110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ご利用人数や運用のご要望</a:t>
            </a:r>
            <a:r>
              <a:rPr lang="en-US" sz="1100" dirty="0" err="1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をヒアリングし、最適なプランをご提案します</a:t>
            </a:r>
            <a:r>
              <a:rPr lang="en-US" sz="110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35040" y="2377440"/>
            <a:ext cx="411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BD5E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446520" y="237744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6520" y="2606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 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30175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TW" altLang="en-US" sz="16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企業情報登録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29400" y="36118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企業情報を登録し、管理者アカウントを発行します。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915400" y="2377440"/>
            <a:ext cx="411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BD5E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326880" y="237744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326880" y="2606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 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464040" y="30175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ご利用開始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09760" y="36118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管理者がユーザーを招待し、日次クイズの配信が始まります。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52578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まずは自社に必要なカテゴリーを選び、スモールスタートで始めていただくことも可能です。「</a:t>
            </a:r>
            <a:r>
              <a:rPr lang="en-US" sz="1300" i="1" dirty="0" err="1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気付きの文化」を根づかせてみませんか</a:t>
            </a:r>
            <a:r>
              <a:rPr lang="en-US" sz="1300" i="1" dirty="0">
                <a:solidFill>
                  <a:srgbClr val="4755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。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ビズもん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21208"/>
            <a:ext cx="2194560" cy="978408"/>
          </a:xfrm>
          <a:prstGeom prst="roundRect">
            <a:avLst>
              <a:gd name="adj" fmla="val 13084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F172A">
                <a:alpha val="22000"/>
              </a:srgbClr>
            </a:outerShdw>
          </a:effectLst>
        </p:spPr>
      </p:sp>
      <p:pic>
        <p:nvPicPr>
          <p:cNvPr id="3" name="Image 0" descr="/mnt/user-data/uploads/ビズもん_vercel/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640080"/>
            <a:ext cx="1920240" cy="7406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7373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1日1問の積み重ねが、会社を変える。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822960" y="246888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DBEA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『ビズもん』は、社員一人ひとりの気付きを増やし、組織の基礎体力を高めるきっかけをつくります。まずは本資料に関するご質問・お見積りなど、お気軽にお問い合わせください。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3520440"/>
            <a:ext cx="7680960" cy="1965960"/>
          </a:xfrm>
          <a:prstGeom prst="roundRect">
            <a:avLst>
              <a:gd name="adj" fmla="val 4651"/>
            </a:avLst>
          </a:prstGeom>
          <a:solidFill>
            <a:srgbClr val="1E3A8A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3749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事業者名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926080" y="37490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株式会社xxxxx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97280" y="42793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所在地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926080" y="427939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千葉県千葉市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097280" y="480974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お問い合わせ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926080" y="4809744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xxxxx@gmail.com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822960" y="5715000"/>
            <a:ext cx="3931920" cy="594360"/>
          </a:xfrm>
          <a:prstGeom prst="roundRect">
            <a:avLst>
              <a:gd name="adj" fmla="val 49231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57150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お問い合わせ・お申し込みはこちら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© 2026 株式会社xxxxx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1486</Words>
  <Application>Microsoft Office PowerPoint</Application>
  <PresentationFormat>ワイド画面</PresentationFormat>
  <Paragraphs>450</Paragraphs>
  <Slides>20</Slides>
  <Notes>20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3" baseType="lpstr">
      <vt:lpstr>BIZ UDPGothic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利宏 岩谷</cp:lastModifiedBy>
  <cp:revision>1</cp:revision>
  <dcterms:created xsi:type="dcterms:W3CDTF">2026-07-13T00:23:13Z</dcterms:created>
  <dcterms:modified xsi:type="dcterms:W3CDTF">2026-07-13T08:36:50Z</dcterms:modified>
</cp:coreProperties>
</file>